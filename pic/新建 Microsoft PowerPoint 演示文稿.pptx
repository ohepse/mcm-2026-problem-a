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7279938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39" userDrawn="1">
          <p15:clr>
            <a:srgbClr val="A4A3A4"/>
          </p15:clr>
        </p15:guide>
        <p15:guide id="2" pos="54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  <a:srgbClr val="DF9D9F"/>
    <a:srgbClr val="96CAA2"/>
    <a:srgbClr val="D98880"/>
    <a:srgbClr val="8DA5CD"/>
    <a:srgbClr val="73B984"/>
    <a:srgbClr val="55A868"/>
    <a:srgbClr val="C44E52"/>
    <a:srgbClr val="4C72B0"/>
    <a:srgbClr val="CD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624" y="480"/>
      </p:cViewPr>
      <p:guideLst>
        <p:guide orient="horz" pos="3039"/>
        <p:guide pos="54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9FA6E-A34C-4E65-9D14-7A58B4CCCB1A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D9723-3861-4277-8601-710A2C7151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83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D9723-3861-4277-8601-710A2C7151D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760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993" y="1590794"/>
            <a:ext cx="12959954" cy="3384092"/>
          </a:xfrm>
        </p:spPr>
        <p:txBody>
          <a:bodyPr anchor="b"/>
          <a:lstStyle>
            <a:lvl1pPr algn="ctr">
              <a:defRPr sz="85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3" y="5105390"/>
            <a:ext cx="12959954" cy="2346813"/>
          </a:xfrm>
        </p:spPr>
        <p:txBody>
          <a:bodyPr/>
          <a:lstStyle>
            <a:lvl1pPr marL="0" indent="0" algn="ctr">
              <a:buNone/>
              <a:defRPr sz="3401"/>
            </a:lvl1pPr>
            <a:lvl2pPr marL="647950" indent="0" algn="ctr">
              <a:buNone/>
              <a:defRPr sz="2835"/>
            </a:lvl2pPr>
            <a:lvl3pPr marL="1295898" indent="0" algn="ctr">
              <a:buNone/>
              <a:defRPr sz="2551"/>
            </a:lvl3pPr>
            <a:lvl4pPr marL="1943848" indent="0" algn="ctr">
              <a:buNone/>
              <a:defRPr sz="2268"/>
            </a:lvl4pPr>
            <a:lvl5pPr marL="2591796" indent="0" algn="ctr">
              <a:buNone/>
              <a:defRPr sz="2268"/>
            </a:lvl5pPr>
            <a:lvl6pPr marL="3239745" indent="0" algn="ctr">
              <a:buNone/>
              <a:defRPr sz="2268"/>
            </a:lvl6pPr>
            <a:lvl7pPr marL="3887694" indent="0" algn="ctr">
              <a:buNone/>
              <a:defRPr sz="2268"/>
            </a:lvl7pPr>
            <a:lvl8pPr marL="4535644" indent="0" algn="ctr">
              <a:buNone/>
              <a:defRPr sz="2268"/>
            </a:lvl8pPr>
            <a:lvl9pPr marL="5183592" indent="0" algn="ctr">
              <a:buNone/>
              <a:defRPr sz="226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04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9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000" y="2423321"/>
            <a:ext cx="14903947" cy="4043360"/>
          </a:xfrm>
        </p:spPr>
        <p:txBody>
          <a:bodyPr anchor="b"/>
          <a:lstStyle>
            <a:lvl1pPr>
              <a:defRPr sz="850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9000" y="6504932"/>
            <a:ext cx="14903947" cy="2126307"/>
          </a:xfrm>
        </p:spPr>
        <p:txBody>
          <a:bodyPr/>
          <a:lstStyle>
            <a:lvl1pPr marL="0" indent="0">
              <a:buNone/>
              <a:defRPr sz="3401">
                <a:solidFill>
                  <a:schemeClr val="tx1">
                    <a:tint val="82000"/>
                  </a:schemeClr>
                </a:solidFill>
              </a:defRPr>
            </a:lvl1pPr>
            <a:lvl2pPr marL="64795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2pPr>
            <a:lvl3pPr marL="1295898" indent="0">
              <a:buNone/>
              <a:defRPr sz="2551">
                <a:solidFill>
                  <a:schemeClr val="tx1">
                    <a:tint val="82000"/>
                  </a:schemeClr>
                </a:solidFill>
              </a:defRPr>
            </a:lvl3pPr>
            <a:lvl4pPr marL="1943848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4pPr>
            <a:lvl5pPr marL="2591796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5pPr>
            <a:lvl6pPr marL="3239745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6pPr>
            <a:lvl7pPr marL="388769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7pPr>
            <a:lvl8pPr marL="453564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8pPr>
            <a:lvl9pPr marL="5183592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05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8002" y="2587569"/>
            <a:ext cx="7343973" cy="6167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73" y="2587569"/>
            <a:ext cx="7343973" cy="6167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95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51" y="517516"/>
            <a:ext cx="14903947" cy="18788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53" y="2382821"/>
            <a:ext cx="7310223" cy="1167782"/>
          </a:xfrm>
        </p:spPr>
        <p:txBody>
          <a:bodyPr anchor="b"/>
          <a:lstStyle>
            <a:lvl1pPr marL="0" indent="0">
              <a:buNone/>
              <a:defRPr sz="3401" b="1"/>
            </a:lvl1pPr>
            <a:lvl2pPr marL="647950" indent="0">
              <a:buNone/>
              <a:defRPr sz="2835" b="1"/>
            </a:lvl2pPr>
            <a:lvl3pPr marL="1295898" indent="0">
              <a:buNone/>
              <a:defRPr sz="2551" b="1"/>
            </a:lvl3pPr>
            <a:lvl4pPr marL="1943848" indent="0">
              <a:buNone/>
              <a:defRPr sz="2268" b="1"/>
            </a:lvl4pPr>
            <a:lvl5pPr marL="2591796" indent="0">
              <a:buNone/>
              <a:defRPr sz="2268" b="1"/>
            </a:lvl5pPr>
            <a:lvl6pPr marL="3239745" indent="0">
              <a:buNone/>
              <a:defRPr sz="2268" b="1"/>
            </a:lvl6pPr>
            <a:lvl7pPr marL="3887694" indent="0">
              <a:buNone/>
              <a:defRPr sz="2268" b="1"/>
            </a:lvl7pPr>
            <a:lvl8pPr marL="4535644" indent="0">
              <a:buNone/>
              <a:defRPr sz="2268" b="1"/>
            </a:lvl8pPr>
            <a:lvl9pPr marL="5183592" indent="0">
              <a:buNone/>
              <a:defRPr sz="22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53" y="3550596"/>
            <a:ext cx="7310223" cy="52223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69" y="2382821"/>
            <a:ext cx="7346224" cy="1167782"/>
          </a:xfrm>
        </p:spPr>
        <p:txBody>
          <a:bodyPr anchor="b"/>
          <a:lstStyle>
            <a:lvl1pPr marL="0" indent="0">
              <a:buNone/>
              <a:defRPr sz="3401" b="1"/>
            </a:lvl1pPr>
            <a:lvl2pPr marL="647950" indent="0">
              <a:buNone/>
              <a:defRPr sz="2835" b="1"/>
            </a:lvl2pPr>
            <a:lvl3pPr marL="1295898" indent="0">
              <a:buNone/>
              <a:defRPr sz="2551" b="1"/>
            </a:lvl3pPr>
            <a:lvl4pPr marL="1943848" indent="0">
              <a:buNone/>
              <a:defRPr sz="2268" b="1"/>
            </a:lvl4pPr>
            <a:lvl5pPr marL="2591796" indent="0">
              <a:buNone/>
              <a:defRPr sz="2268" b="1"/>
            </a:lvl5pPr>
            <a:lvl6pPr marL="3239745" indent="0">
              <a:buNone/>
              <a:defRPr sz="2268" b="1"/>
            </a:lvl6pPr>
            <a:lvl7pPr marL="3887694" indent="0">
              <a:buNone/>
              <a:defRPr sz="2268" b="1"/>
            </a:lvl7pPr>
            <a:lvl8pPr marL="4535644" indent="0">
              <a:buNone/>
              <a:defRPr sz="2268" b="1"/>
            </a:lvl8pPr>
            <a:lvl9pPr marL="5183592" indent="0">
              <a:buNone/>
              <a:defRPr sz="22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69" y="3550596"/>
            <a:ext cx="7346224" cy="52223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86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99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21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52" y="648023"/>
            <a:ext cx="5573229" cy="2268062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9" y="1399544"/>
            <a:ext cx="8747969" cy="6907686"/>
          </a:xfrm>
        </p:spPr>
        <p:txBody>
          <a:bodyPr/>
          <a:lstStyle>
            <a:lvl1pPr>
              <a:defRPr sz="4535"/>
            </a:lvl1pPr>
            <a:lvl2pPr>
              <a:defRPr sz="3968"/>
            </a:lvl2pPr>
            <a:lvl3pPr>
              <a:defRPr sz="3401"/>
            </a:lvl3pPr>
            <a:lvl4pPr>
              <a:defRPr sz="2835"/>
            </a:lvl4pPr>
            <a:lvl5pPr>
              <a:defRPr sz="2835"/>
            </a:lvl5pPr>
            <a:lvl6pPr>
              <a:defRPr sz="2835"/>
            </a:lvl6pPr>
            <a:lvl7pPr>
              <a:defRPr sz="2835"/>
            </a:lvl7pPr>
            <a:lvl8pPr>
              <a:defRPr sz="2835"/>
            </a:lvl8pPr>
            <a:lvl9pPr>
              <a:defRPr sz="28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52" y="2916080"/>
            <a:ext cx="5573229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50" indent="0">
              <a:buNone/>
              <a:defRPr sz="1984"/>
            </a:lvl2pPr>
            <a:lvl3pPr marL="1295898" indent="0">
              <a:buNone/>
              <a:defRPr sz="1701"/>
            </a:lvl3pPr>
            <a:lvl4pPr marL="1943848" indent="0">
              <a:buNone/>
              <a:defRPr sz="1416"/>
            </a:lvl4pPr>
            <a:lvl5pPr marL="2591796" indent="0">
              <a:buNone/>
              <a:defRPr sz="1416"/>
            </a:lvl5pPr>
            <a:lvl6pPr marL="3239745" indent="0">
              <a:buNone/>
              <a:defRPr sz="1416"/>
            </a:lvl6pPr>
            <a:lvl7pPr marL="3887694" indent="0">
              <a:buNone/>
              <a:defRPr sz="1416"/>
            </a:lvl7pPr>
            <a:lvl8pPr marL="4535644" indent="0">
              <a:buNone/>
              <a:defRPr sz="1416"/>
            </a:lvl8pPr>
            <a:lvl9pPr marL="5183592" indent="0">
              <a:buNone/>
              <a:defRPr sz="141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237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52" y="648023"/>
            <a:ext cx="5573229" cy="2268062"/>
          </a:xfrm>
        </p:spPr>
        <p:txBody>
          <a:bodyPr anchor="b"/>
          <a:lstStyle>
            <a:lvl1pPr>
              <a:defRPr sz="4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9" y="1399544"/>
            <a:ext cx="8747969" cy="6907686"/>
          </a:xfrm>
        </p:spPr>
        <p:txBody>
          <a:bodyPr anchor="t"/>
          <a:lstStyle>
            <a:lvl1pPr marL="0" indent="0">
              <a:buNone/>
              <a:defRPr sz="4535"/>
            </a:lvl1pPr>
            <a:lvl2pPr marL="647950" indent="0">
              <a:buNone/>
              <a:defRPr sz="3968"/>
            </a:lvl2pPr>
            <a:lvl3pPr marL="1295898" indent="0">
              <a:buNone/>
              <a:defRPr sz="3401"/>
            </a:lvl3pPr>
            <a:lvl4pPr marL="1943848" indent="0">
              <a:buNone/>
              <a:defRPr sz="2835"/>
            </a:lvl4pPr>
            <a:lvl5pPr marL="2591796" indent="0">
              <a:buNone/>
              <a:defRPr sz="2835"/>
            </a:lvl5pPr>
            <a:lvl6pPr marL="3239745" indent="0">
              <a:buNone/>
              <a:defRPr sz="2835"/>
            </a:lvl6pPr>
            <a:lvl7pPr marL="3887694" indent="0">
              <a:buNone/>
              <a:defRPr sz="2835"/>
            </a:lvl7pPr>
            <a:lvl8pPr marL="4535644" indent="0">
              <a:buNone/>
              <a:defRPr sz="2835"/>
            </a:lvl8pPr>
            <a:lvl9pPr marL="5183592" indent="0">
              <a:buNone/>
              <a:defRPr sz="283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52" y="2916080"/>
            <a:ext cx="5573229" cy="5402397"/>
          </a:xfrm>
        </p:spPr>
        <p:txBody>
          <a:bodyPr/>
          <a:lstStyle>
            <a:lvl1pPr marL="0" indent="0">
              <a:buNone/>
              <a:defRPr sz="2268"/>
            </a:lvl1pPr>
            <a:lvl2pPr marL="647950" indent="0">
              <a:buNone/>
              <a:defRPr sz="1984"/>
            </a:lvl2pPr>
            <a:lvl3pPr marL="1295898" indent="0">
              <a:buNone/>
              <a:defRPr sz="1701"/>
            </a:lvl3pPr>
            <a:lvl4pPr marL="1943848" indent="0">
              <a:buNone/>
              <a:defRPr sz="1416"/>
            </a:lvl4pPr>
            <a:lvl5pPr marL="2591796" indent="0">
              <a:buNone/>
              <a:defRPr sz="1416"/>
            </a:lvl5pPr>
            <a:lvl6pPr marL="3239745" indent="0">
              <a:buNone/>
              <a:defRPr sz="1416"/>
            </a:lvl6pPr>
            <a:lvl7pPr marL="3887694" indent="0">
              <a:buNone/>
              <a:defRPr sz="1416"/>
            </a:lvl7pPr>
            <a:lvl8pPr marL="4535644" indent="0">
              <a:buNone/>
              <a:defRPr sz="1416"/>
            </a:lvl8pPr>
            <a:lvl9pPr marL="5183592" indent="0">
              <a:buNone/>
              <a:defRPr sz="141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01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06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60" y="517514"/>
            <a:ext cx="3725987" cy="823747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8002" y="517514"/>
            <a:ext cx="10961961" cy="823747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0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8002" y="517516"/>
            <a:ext cx="14903947" cy="18788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8002" y="2587569"/>
            <a:ext cx="14903947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8001" y="9009245"/>
            <a:ext cx="3887987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7B908-5D6C-446C-B3D5-A1DADDF96F55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1" y="9009245"/>
            <a:ext cx="5831980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61" y="9009245"/>
            <a:ext cx="3887987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834C4-F455-4A86-9B09-AD8E061EF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5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95898" rtl="0" eaLnBrk="1" latinLnBrk="0" hangingPunct="1">
        <a:lnSpc>
          <a:spcPct val="90000"/>
        </a:lnSpc>
        <a:spcBef>
          <a:spcPct val="0"/>
        </a:spcBef>
        <a:buNone/>
        <a:defRPr sz="62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3974" indent="-323974" algn="l" defTabSz="1295898" rtl="0" eaLnBrk="1" latinLnBrk="0" hangingPunct="1">
        <a:lnSpc>
          <a:spcPct val="90000"/>
        </a:lnSpc>
        <a:spcBef>
          <a:spcPts val="1416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971923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3401" kern="1200">
          <a:solidFill>
            <a:schemeClr val="tx1"/>
          </a:solidFill>
          <a:latin typeface="+mn-lt"/>
          <a:ea typeface="+mn-ea"/>
          <a:cs typeface="+mn-cs"/>
        </a:defRPr>
      </a:lvl2pPr>
      <a:lvl3pPr marL="1619873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267821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915771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563721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4211668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859618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507567" indent="-323974" algn="l" defTabSz="1295898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1pPr>
      <a:lvl2pPr marL="647950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2pPr>
      <a:lvl3pPr marL="1295898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3pPr>
      <a:lvl4pPr marL="1943848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4pPr>
      <a:lvl5pPr marL="2591796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5pPr>
      <a:lvl6pPr marL="3239745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6pPr>
      <a:lvl7pPr marL="3887694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7pPr>
      <a:lvl8pPr marL="4535644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8pPr>
      <a:lvl9pPr marL="5183592" algn="l" defTabSz="1295898" rtl="0" eaLnBrk="1" latinLnBrk="0" hangingPunct="1">
        <a:defRPr sz="25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26.png"/><Relationship Id="rId3" Type="http://schemas.openxmlformats.org/officeDocument/2006/relationships/image" Target="../media/image13.jpg"/><Relationship Id="rId21" Type="http://schemas.openxmlformats.org/officeDocument/2006/relationships/image" Target="../media/image29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1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23" Type="http://schemas.openxmlformats.org/officeDocument/2006/relationships/image" Target="../media/image31.svg"/><Relationship Id="rId10" Type="http://schemas.openxmlformats.org/officeDocument/2006/relationships/image" Target="../media/image20.png"/><Relationship Id="rId19" Type="http://schemas.openxmlformats.org/officeDocument/2006/relationships/image" Target="../media/image27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Relationship Id="rId22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11" Type="http://schemas.openxmlformats.org/officeDocument/2006/relationships/image" Target="../media/image22.png"/><Relationship Id="rId5" Type="http://schemas.openxmlformats.org/officeDocument/2006/relationships/image" Target="../media/image33.png"/><Relationship Id="rId10" Type="http://schemas.openxmlformats.org/officeDocument/2006/relationships/image" Target="../media/image17.svg"/><Relationship Id="rId4" Type="http://schemas.openxmlformats.org/officeDocument/2006/relationships/image" Target="../media/image21.sv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>
            <a:extLst>
              <a:ext uri="{FF2B5EF4-FFF2-40B4-BE49-F238E27FC236}">
                <a16:creationId xmlns:a16="http://schemas.microsoft.com/office/drawing/2014/main" id="{1A7267B7-280E-3C08-D21E-265F2D06D009}"/>
              </a:ext>
            </a:extLst>
          </p:cNvPr>
          <p:cNvSpPr/>
          <p:nvPr/>
        </p:nvSpPr>
        <p:spPr>
          <a:xfrm>
            <a:off x="8764305" y="7327194"/>
            <a:ext cx="7224996" cy="22449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2F122CB-E460-6B2F-E693-30DB8EE383AF}"/>
              </a:ext>
            </a:extLst>
          </p:cNvPr>
          <p:cNvSpPr/>
          <p:nvPr/>
        </p:nvSpPr>
        <p:spPr>
          <a:xfrm>
            <a:off x="8764305" y="4174012"/>
            <a:ext cx="7224996" cy="2999664"/>
          </a:xfrm>
          <a:prstGeom prst="rect">
            <a:avLst/>
          </a:prstGeom>
          <a:solidFill>
            <a:srgbClr val="E5FC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6615E24-A6B4-DDBE-F6F2-13D6C1117C01}"/>
              </a:ext>
            </a:extLst>
          </p:cNvPr>
          <p:cNvSpPr/>
          <p:nvPr/>
        </p:nvSpPr>
        <p:spPr>
          <a:xfrm>
            <a:off x="1101755" y="4179358"/>
            <a:ext cx="7475688" cy="5389840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988D513-917C-FE94-4DE8-7CD85F8D4CD5}"/>
              </a:ext>
            </a:extLst>
          </p:cNvPr>
          <p:cNvSpPr/>
          <p:nvPr/>
        </p:nvSpPr>
        <p:spPr>
          <a:xfrm>
            <a:off x="8781290" y="49271"/>
            <a:ext cx="2902673" cy="3916336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24E728DB-CC73-8794-FC95-B2DAADE7E450}"/>
              </a:ext>
            </a:extLst>
          </p:cNvPr>
          <p:cNvSpPr/>
          <p:nvPr/>
        </p:nvSpPr>
        <p:spPr>
          <a:xfrm>
            <a:off x="11887795" y="46209"/>
            <a:ext cx="4101506" cy="3916336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F807708-E958-519E-355F-034C54D8F895}"/>
              </a:ext>
            </a:extLst>
          </p:cNvPr>
          <p:cNvSpPr/>
          <p:nvPr/>
        </p:nvSpPr>
        <p:spPr>
          <a:xfrm>
            <a:off x="1101756" y="58392"/>
            <a:ext cx="7475689" cy="3907216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pic>
        <p:nvPicPr>
          <p:cNvPr id="5" name="图形 4" descr="部分选中的剪贴板 纯色填充">
            <a:extLst>
              <a:ext uri="{FF2B5EF4-FFF2-40B4-BE49-F238E27FC236}">
                <a16:creationId xmlns:a16="http://schemas.microsoft.com/office/drawing/2014/main" id="{5A64C9D8-2CD1-1501-9283-981DF1CC5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55" y="131710"/>
            <a:ext cx="914400" cy="914400"/>
          </a:xfrm>
          <a:prstGeom prst="rect">
            <a:avLst/>
          </a:prstGeom>
        </p:spPr>
      </p:pic>
      <p:pic>
        <p:nvPicPr>
          <p:cNvPr id="11" name="图形 10" descr="沙漏 30% 纯色填充">
            <a:extLst>
              <a:ext uri="{FF2B5EF4-FFF2-40B4-BE49-F238E27FC236}">
                <a16:creationId xmlns:a16="http://schemas.microsoft.com/office/drawing/2014/main" id="{E6CF08C6-E8E4-AB7C-59FD-B8F402B00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87795" y="55328"/>
            <a:ext cx="914400" cy="914400"/>
          </a:xfrm>
          <a:prstGeom prst="rect">
            <a:avLst/>
          </a:prstGeom>
        </p:spPr>
      </p:pic>
      <p:pic>
        <p:nvPicPr>
          <p:cNvPr id="15" name="图形 14" descr="房子 纯色填充">
            <a:extLst>
              <a:ext uri="{FF2B5EF4-FFF2-40B4-BE49-F238E27FC236}">
                <a16:creationId xmlns:a16="http://schemas.microsoft.com/office/drawing/2014/main" id="{BCB586D1-4F42-73C9-F85B-CBD6A5EDAD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6927" y="4278466"/>
            <a:ext cx="914400" cy="914400"/>
          </a:xfrm>
          <a:prstGeom prst="rect">
            <a:avLst/>
          </a:prstGeom>
        </p:spPr>
      </p:pic>
      <p:pic>
        <p:nvPicPr>
          <p:cNvPr id="17" name="图形 16" descr="复选标记 纯色填充">
            <a:extLst>
              <a:ext uri="{FF2B5EF4-FFF2-40B4-BE49-F238E27FC236}">
                <a16:creationId xmlns:a16="http://schemas.microsoft.com/office/drawing/2014/main" id="{C4F600CC-0A96-2135-9898-50B3C150D9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53034" y="84471"/>
            <a:ext cx="914400" cy="9144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1A6B9E-2348-4190-3F59-222BE4D438E3}"/>
              </a:ext>
            </a:extLst>
          </p:cNvPr>
          <p:cNvSpPr/>
          <p:nvPr/>
        </p:nvSpPr>
        <p:spPr>
          <a:xfrm>
            <a:off x="12268278" y="1181194"/>
            <a:ext cx="3495717" cy="1129864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Texas in USA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High Income &amp; High assets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Mature Insurance Market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hurricanes &amp; winter storms.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C48A8-241E-BFAE-CDE7-89953B4B9733}"/>
              </a:ext>
            </a:extLst>
          </p:cNvPr>
          <p:cNvSpPr/>
          <p:nvPr/>
        </p:nvSpPr>
        <p:spPr>
          <a:xfrm>
            <a:off x="12267926" y="2485238"/>
            <a:ext cx="3495717" cy="1293349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Luzon in Philippine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Developing Region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Immature Insurance Market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Typhoon &amp; Flooding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E4F335-2847-7DFB-8806-5314D7E1F389}"/>
              </a:ext>
            </a:extLst>
          </p:cNvPr>
          <p:cNvSpPr txBox="1"/>
          <p:nvPr/>
        </p:nvSpPr>
        <p:spPr>
          <a:xfrm>
            <a:off x="12683178" y="0"/>
            <a:ext cx="24613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Preparation</a:t>
            </a:r>
          </a:p>
          <a:p>
            <a:r>
              <a:rPr lang="en-US" altLang="zh-CN" sz="2000" b="1" dirty="0">
                <a:latin typeface="+mn-ea"/>
              </a:rPr>
              <a:t>Data Collection</a:t>
            </a:r>
          </a:p>
          <a:p>
            <a:r>
              <a:rPr lang="en-US" altLang="zh-CN" sz="2000" b="1" dirty="0">
                <a:latin typeface="+mn-ea"/>
              </a:rPr>
              <a:t>&amp; Pre-processing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3B7C36-3344-21B4-28C9-2BA3BA0C5DC3}"/>
              </a:ext>
            </a:extLst>
          </p:cNvPr>
          <p:cNvSpPr txBox="1"/>
          <p:nvPr/>
        </p:nvSpPr>
        <p:spPr>
          <a:xfrm>
            <a:off x="1918886" y="50301"/>
            <a:ext cx="44474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1</a:t>
            </a:r>
          </a:p>
          <a:p>
            <a:r>
              <a:rPr lang="en-US" altLang="zh-CN" sz="2000" b="1" dirty="0">
                <a:latin typeface="+mn-ea"/>
              </a:rPr>
              <a:t>Model 1</a:t>
            </a:r>
          </a:p>
          <a:p>
            <a:r>
              <a:rPr lang="en-US" altLang="zh-CN" sz="2000" b="1" dirty="0">
                <a:latin typeface="+mn-ea"/>
              </a:rPr>
              <a:t>Insurance Underwriting Model 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E0B7E13-0FFF-812B-A3FD-74EF4851406C}"/>
              </a:ext>
            </a:extLst>
          </p:cNvPr>
          <p:cNvSpPr/>
          <p:nvPr/>
        </p:nvSpPr>
        <p:spPr>
          <a:xfrm>
            <a:off x="1236929" y="1237320"/>
            <a:ext cx="222144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Quantify risks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74BC1BB-6634-D5DD-326A-4E7BD88A931B}"/>
              </a:ext>
            </a:extLst>
          </p:cNvPr>
          <p:cNvSpPr/>
          <p:nvPr/>
        </p:nvSpPr>
        <p:spPr>
          <a:xfrm>
            <a:off x="1236927" y="2209638"/>
            <a:ext cx="2221448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Accumulate losses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A8FD8EF-5C60-B87E-AE92-B5363323925D}"/>
              </a:ext>
            </a:extLst>
          </p:cNvPr>
          <p:cNvSpPr/>
          <p:nvPr/>
        </p:nvSpPr>
        <p:spPr>
          <a:xfrm>
            <a:off x="3770670" y="1232571"/>
            <a:ext cx="347468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Minimum Viable Premium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Insurers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978C3DB-7324-EAF0-1C09-70650301384F}"/>
              </a:ext>
            </a:extLst>
          </p:cNvPr>
          <p:cNvSpPr/>
          <p:nvPr/>
        </p:nvSpPr>
        <p:spPr>
          <a:xfrm>
            <a:off x="3770675" y="2202732"/>
            <a:ext cx="3474687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Maximum Affordable Premium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For</a:t>
            </a:r>
            <a:r>
              <a:rPr lang="zh-CN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</a:rPr>
              <a:t>Homeowners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2FEBE2D-95A0-5B86-1645-E49B7D1A98F6}"/>
              </a:ext>
            </a:extLst>
          </p:cNvPr>
          <p:cNvSpPr/>
          <p:nvPr/>
        </p:nvSpPr>
        <p:spPr>
          <a:xfrm>
            <a:off x="6736022" y="3186707"/>
            <a:ext cx="176424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Decision Inequation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6CCE28FC-AA78-280B-7A93-35EF6D4A242B}"/>
              </a:ext>
            </a:extLst>
          </p:cNvPr>
          <p:cNvSpPr/>
          <p:nvPr/>
        </p:nvSpPr>
        <p:spPr>
          <a:xfrm>
            <a:off x="3770665" y="3186707"/>
            <a:ext cx="1764246" cy="554876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Solvency Constraint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9F9A3DC-FA6A-DB5B-C96B-E4496B48D669}"/>
              </a:ext>
            </a:extLst>
          </p:cNvPr>
          <p:cNvSpPr txBox="1"/>
          <p:nvPr/>
        </p:nvSpPr>
        <p:spPr>
          <a:xfrm>
            <a:off x="9828900" y="10005"/>
            <a:ext cx="13935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2</a:t>
            </a:r>
          </a:p>
          <a:p>
            <a:r>
              <a:rPr lang="en-US" altLang="zh-CN" sz="2000" b="1" dirty="0">
                <a:latin typeface="+mn-ea"/>
              </a:rPr>
              <a:t>Model 1</a:t>
            </a:r>
          </a:p>
          <a:p>
            <a:r>
              <a:rPr lang="en-US" altLang="zh-CN" sz="2000" b="1" dirty="0">
                <a:latin typeface="+mn-ea"/>
              </a:rPr>
              <a:t>Validation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C4E890D-CBF9-094C-3BDF-76EE7C97964B}"/>
              </a:ext>
            </a:extLst>
          </p:cNvPr>
          <p:cNvSpPr/>
          <p:nvPr/>
        </p:nvSpPr>
        <p:spPr>
          <a:xfrm>
            <a:off x="8922870" y="1237320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Property Owners’ Behavior Factor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676EC76-984A-D8A5-EC67-F0AF2C464E9D}"/>
              </a:ext>
            </a:extLst>
          </p:cNvPr>
          <p:cNvSpPr/>
          <p:nvPr/>
        </p:nvSpPr>
        <p:spPr>
          <a:xfrm>
            <a:off x="8922870" y="3186707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Insurance Market Failure Point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11D51B7-A5A0-51C8-A29F-D1C3DA6D9BED}"/>
              </a:ext>
            </a:extLst>
          </p:cNvPr>
          <p:cNvSpPr txBox="1"/>
          <p:nvPr/>
        </p:nvSpPr>
        <p:spPr>
          <a:xfrm>
            <a:off x="2050557" y="4197058"/>
            <a:ext cx="50139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3</a:t>
            </a:r>
          </a:p>
          <a:p>
            <a:r>
              <a:rPr lang="en-US" altLang="zh-CN" sz="2000" b="1" dirty="0">
                <a:latin typeface="+mn-ea"/>
              </a:rPr>
              <a:t>Model 2</a:t>
            </a:r>
          </a:p>
          <a:p>
            <a:r>
              <a:rPr lang="en-US" altLang="zh-CN" sz="2000" b="1" dirty="0">
                <a:latin typeface="+mn-ea"/>
              </a:rPr>
              <a:t>Dynamic Resilience Life-Cycle Cost Model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796043D-978F-86D5-842C-157084328DD4}"/>
              </a:ext>
            </a:extLst>
          </p:cNvPr>
          <p:cNvSpPr/>
          <p:nvPr/>
        </p:nvSpPr>
        <p:spPr>
          <a:xfrm>
            <a:off x="5279021" y="7099378"/>
            <a:ext cx="3151667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Minimize Total Cost of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Ownership (TCO)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E0DBE3DB-C2C6-E65A-89F2-9A40A213F48E}"/>
              </a:ext>
            </a:extLst>
          </p:cNvPr>
          <p:cNvSpPr/>
          <p:nvPr/>
        </p:nvSpPr>
        <p:spPr>
          <a:xfrm>
            <a:off x="1248884" y="5422680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Initial Construction Cost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AC910E9-4601-C3A6-0808-D33EA2810DFA}"/>
              </a:ext>
            </a:extLst>
          </p:cNvPr>
          <p:cNvSpPr/>
          <p:nvPr/>
        </p:nvSpPr>
        <p:spPr>
          <a:xfrm>
            <a:off x="1248884" y="7099378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Minimum Viable Premium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E622764-F1A7-50BC-DC8D-3CA96F131E4B}"/>
              </a:ext>
            </a:extLst>
          </p:cNvPr>
          <p:cNvSpPr/>
          <p:nvPr/>
        </p:nvSpPr>
        <p:spPr>
          <a:xfrm>
            <a:off x="1248883" y="8776077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Expected Residual Loss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B905329-746F-F063-B978-99579833A903}"/>
              </a:ext>
            </a:extLst>
          </p:cNvPr>
          <p:cNvSpPr txBox="1"/>
          <p:nvPr/>
        </p:nvSpPr>
        <p:spPr>
          <a:xfrm>
            <a:off x="9609286" y="4197058"/>
            <a:ext cx="40516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4</a:t>
            </a:r>
          </a:p>
          <a:p>
            <a:r>
              <a:rPr lang="en-US" altLang="zh-CN" sz="2000" b="1" dirty="0">
                <a:latin typeface="+mn-ea"/>
              </a:rPr>
              <a:t>Model 3</a:t>
            </a:r>
          </a:p>
          <a:p>
            <a:r>
              <a:rPr lang="en-US" altLang="zh-CN" sz="2000" b="1" dirty="0">
                <a:latin typeface="+mn-ea"/>
              </a:rPr>
              <a:t>Cultural Relics Protection Model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65C5F1E-2C4D-C3E7-B18F-122414471D70}"/>
              </a:ext>
            </a:extLst>
          </p:cNvPr>
          <p:cNvSpPr/>
          <p:nvPr/>
        </p:nvSpPr>
        <p:spPr>
          <a:xfrm>
            <a:off x="8885474" y="5857640"/>
            <a:ext cx="2003363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Protection Index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(PI)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78F68FE-906D-5841-5CAB-4BCD2EFD2E0F}"/>
              </a:ext>
            </a:extLst>
          </p:cNvPr>
          <p:cNvSpPr/>
          <p:nvPr/>
        </p:nvSpPr>
        <p:spPr>
          <a:xfrm>
            <a:off x="13993862" y="5372127"/>
            <a:ext cx="1755581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Intangible Cultural Value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BF0BB07-C606-0C0C-DB24-8832E261A941}"/>
              </a:ext>
            </a:extLst>
          </p:cNvPr>
          <p:cNvSpPr/>
          <p:nvPr/>
        </p:nvSpPr>
        <p:spPr>
          <a:xfrm>
            <a:off x="11458245" y="5368052"/>
            <a:ext cx="1934698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Economic value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D6BA1F7-D884-5CC3-5CB6-662B4C92E9C8}"/>
              </a:ext>
            </a:extLst>
          </p:cNvPr>
          <p:cNvSpPr/>
          <p:nvPr/>
        </p:nvSpPr>
        <p:spPr>
          <a:xfrm>
            <a:off x="11462701" y="6277897"/>
            <a:ext cx="1930242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Protective Measures Cost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B9288EE3-ED45-D970-FE85-854EFA612B61}"/>
              </a:ext>
            </a:extLst>
          </p:cNvPr>
          <p:cNvSpPr/>
          <p:nvPr/>
        </p:nvSpPr>
        <p:spPr>
          <a:xfrm>
            <a:off x="13993862" y="6243311"/>
            <a:ext cx="1755581" cy="554876"/>
          </a:xfrm>
          <a:prstGeom prst="roundRect">
            <a:avLst/>
          </a:prstGeom>
          <a:solidFill>
            <a:srgbClr val="FCF1E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Expected Residual Loss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2FA9C6A8-CD5E-D71A-E370-2FB4BD3A838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2347660" y="1792196"/>
            <a:ext cx="1" cy="4174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>
            <a:extLst>
              <a:ext uri="{FF2B5EF4-FFF2-40B4-BE49-F238E27FC236}">
                <a16:creationId xmlns:a16="http://schemas.microsoft.com/office/drawing/2014/main" id="{963957E3-B705-D25A-1F42-5C4458D20E66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3458376" y="1510008"/>
            <a:ext cx="312288" cy="977068"/>
          </a:xfrm>
          <a:prstGeom prst="bentConnector3">
            <a:avLst>
              <a:gd name="adj1" fmla="val 3983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CBD44A6-4E71-B949-876C-30F0F6D80EF6}"/>
              </a:ext>
            </a:extLst>
          </p:cNvPr>
          <p:cNvCxnSpPr>
            <a:cxnSpLocks/>
            <a:stCxn id="29" idx="3"/>
            <a:endCxn id="35" idx="1"/>
          </p:cNvCxnSpPr>
          <p:nvPr/>
        </p:nvCxnSpPr>
        <p:spPr>
          <a:xfrm>
            <a:off x="8500280" y="3464145"/>
            <a:ext cx="42260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BBE5AFDF-176B-437E-70D9-B845F5A175E3}"/>
              </a:ext>
            </a:extLst>
          </p:cNvPr>
          <p:cNvCxnSpPr>
            <a:cxnSpLocks/>
            <a:stCxn id="19" idx="1"/>
            <a:endCxn id="35" idx="3"/>
          </p:cNvCxnSpPr>
          <p:nvPr/>
        </p:nvCxnSpPr>
        <p:spPr>
          <a:xfrm rot="10800000" flipV="1">
            <a:off x="11402941" y="1746138"/>
            <a:ext cx="865330" cy="1718019"/>
          </a:xfrm>
          <a:prstGeom prst="bentConnector3">
            <a:avLst>
              <a:gd name="adj1" fmla="val 2945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50043013-E659-3F0A-30BA-31E32483CCD3}"/>
              </a:ext>
            </a:extLst>
          </p:cNvPr>
          <p:cNvCxnSpPr>
            <a:cxnSpLocks/>
            <a:stCxn id="20" idx="1"/>
            <a:endCxn id="35" idx="3"/>
          </p:cNvCxnSpPr>
          <p:nvPr/>
        </p:nvCxnSpPr>
        <p:spPr>
          <a:xfrm rot="10800000" flipV="1">
            <a:off x="11402955" y="3131901"/>
            <a:ext cx="864973" cy="332244"/>
          </a:xfrm>
          <a:prstGeom prst="bentConnector3">
            <a:avLst>
              <a:gd name="adj1" fmla="val 2907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18A6F103-3CFF-4D4A-3CD4-97A72D882ACD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10162905" y="1792207"/>
            <a:ext cx="0" cy="1394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ACCED84-3273-8733-24D7-B29420454B8B}"/>
              </a:ext>
            </a:extLst>
          </p:cNvPr>
          <p:cNvSpPr/>
          <p:nvPr/>
        </p:nvSpPr>
        <p:spPr>
          <a:xfrm>
            <a:off x="5293023" y="8763059"/>
            <a:ext cx="3137659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Optimal Resilience Level</a:t>
            </a:r>
          </a:p>
        </p:txBody>
      </p: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379ACB34-4DF8-1F44-1859-5E434DCC65D0}"/>
              </a:ext>
            </a:extLst>
          </p:cNvPr>
          <p:cNvCxnSpPr>
            <a:cxnSpLocks/>
            <a:stCxn id="38" idx="3"/>
            <a:endCxn id="37" idx="1"/>
          </p:cNvCxnSpPr>
          <p:nvPr/>
        </p:nvCxnSpPr>
        <p:spPr>
          <a:xfrm>
            <a:off x="4400564" y="5700130"/>
            <a:ext cx="878457" cy="167669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96DB6E28-4AD4-8D70-598A-E2BB010D6F51}"/>
              </a:ext>
            </a:extLst>
          </p:cNvPr>
          <p:cNvCxnSpPr>
            <a:cxnSpLocks/>
            <a:stCxn id="40" idx="3"/>
            <a:endCxn id="37" idx="1"/>
          </p:cNvCxnSpPr>
          <p:nvPr/>
        </p:nvCxnSpPr>
        <p:spPr>
          <a:xfrm flipV="1">
            <a:off x="4400564" y="7376829"/>
            <a:ext cx="878457" cy="167669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0171ADE1-8F57-0F06-34E3-A3E6FEFF872D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4400564" y="7376816"/>
            <a:ext cx="8784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6F187F31-4363-DF74-E5B0-E0F182208591}"/>
              </a:ext>
            </a:extLst>
          </p:cNvPr>
          <p:cNvCxnSpPr>
            <a:cxnSpLocks/>
            <a:stCxn id="37" idx="2"/>
            <a:endCxn id="103" idx="0"/>
          </p:cNvCxnSpPr>
          <p:nvPr/>
        </p:nvCxnSpPr>
        <p:spPr>
          <a:xfrm>
            <a:off x="6854841" y="7654256"/>
            <a:ext cx="7004" cy="11088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2" name="图形 121" descr="希腊柱子 纯色填充">
            <a:extLst>
              <a:ext uri="{FF2B5EF4-FFF2-40B4-BE49-F238E27FC236}">
                <a16:creationId xmlns:a16="http://schemas.microsoft.com/office/drawing/2014/main" id="{9261AB7E-E272-11A1-21DA-B488BD1E18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1283" y="4249883"/>
            <a:ext cx="914400" cy="914400"/>
          </a:xfrm>
          <a:prstGeom prst="rect">
            <a:avLst/>
          </a:prstGeom>
        </p:spPr>
      </p:pic>
      <p:sp>
        <p:nvSpPr>
          <p:cNvPr id="124" name="等号 123">
            <a:extLst>
              <a:ext uri="{FF2B5EF4-FFF2-40B4-BE49-F238E27FC236}">
                <a16:creationId xmlns:a16="http://schemas.microsoft.com/office/drawing/2014/main" id="{F96546DB-398F-FFDD-074A-3D9BF9C0FCF6}"/>
              </a:ext>
            </a:extLst>
          </p:cNvPr>
          <p:cNvSpPr/>
          <p:nvPr/>
        </p:nvSpPr>
        <p:spPr>
          <a:xfrm>
            <a:off x="10893412" y="5886374"/>
            <a:ext cx="382439" cy="423506"/>
          </a:xfrm>
          <a:prstGeom prst="mathEqual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5" name="减号 124">
            <a:extLst>
              <a:ext uri="{FF2B5EF4-FFF2-40B4-BE49-F238E27FC236}">
                <a16:creationId xmlns:a16="http://schemas.microsoft.com/office/drawing/2014/main" id="{DDFD536F-228D-1288-67CC-16DA776001C4}"/>
              </a:ext>
            </a:extLst>
          </p:cNvPr>
          <p:cNvSpPr/>
          <p:nvPr/>
        </p:nvSpPr>
        <p:spPr>
          <a:xfrm>
            <a:off x="10558113" y="5967645"/>
            <a:ext cx="6098629" cy="260105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加号 125">
            <a:extLst>
              <a:ext uri="{FF2B5EF4-FFF2-40B4-BE49-F238E27FC236}">
                <a16:creationId xmlns:a16="http://schemas.microsoft.com/office/drawing/2014/main" id="{B1C47AD5-1CEE-2B5B-2AF9-EC6E176F7E1B}"/>
              </a:ext>
            </a:extLst>
          </p:cNvPr>
          <p:cNvSpPr/>
          <p:nvPr/>
        </p:nvSpPr>
        <p:spPr>
          <a:xfrm>
            <a:off x="13476914" y="5427794"/>
            <a:ext cx="423506" cy="42350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加号 126">
            <a:extLst>
              <a:ext uri="{FF2B5EF4-FFF2-40B4-BE49-F238E27FC236}">
                <a16:creationId xmlns:a16="http://schemas.microsoft.com/office/drawing/2014/main" id="{FEF3DABA-A034-B7CF-D81A-F719A512788C}"/>
              </a:ext>
            </a:extLst>
          </p:cNvPr>
          <p:cNvSpPr/>
          <p:nvPr/>
        </p:nvSpPr>
        <p:spPr>
          <a:xfrm>
            <a:off x="13479032" y="6308996"/>
            <a:ext cx="423506" cy="423506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9" name="图形 128" descr="文档 纯色填充">
            <a:extLst>
              <a:ext uri="{FF2B5EF4-FFF2-40B4-BE49-F238E27FC236}">
                <a16:creationId xmlns:a16="http://schemas.microsoft.com/office/drawing/2014/main" id="{DBC5581B-EC77-AFE4-689A-8BDDF0AFBF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90480" y="7382076"/>
            <a:ext cx="914400" cy="914400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89ED2FCF-C840-0133-62F0-D3D9C0B6398E}"/>
              </a:ext>
            </a:extLst>
          </p:cNvPr>
          <p:cNvSpPr txBox="1"/>
          <p:nvPr/>
        </p:nvSpPr>
        <p:spPr>
          <a:xfrm>
            <a:off x="9609286" y="7423791"/>
            <a:ext cx="40516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TASK 5</a:t>
            </a:r>
          </a:p>
          <a:p>
            <a:r>
              <a:rPr lang="en-US" altLang="zh-CN" sz="2400" b="1" dirty="0">
                <a:latin typeface="+mn-ea"/>
              </a:rPr>
              <a:t>Letter Writing</a:t>
            </a:r>
          </a:p>
        </p:txBody>
      </p:sp>
      <p:cxnSp>
        <p:nvCxnSpPr>
          <p:cNvPr id="158" name="连接符: 肘形 157">
            <a:extLst>
              <a:ext uri="{FF2B5EF4-FFF2-40B4-BE49-F238E27FC236}">
                <a16:creationId xmlns:a16="http://schemas.microsoft.com/office/drawing/2014/main" id="{F2727C0E-9B38-B087-902E-78BB2279E6A6}"/>
              </a:ext>
            </a:extLst>
          </p:cNvPr>
          <p:cNvCxnSpPr>
            <a:cxnSpLocks/>
            <a:stCxn id="25" idx="3"/>
            <a:endCxn id="29" idx="0"/>
          </p:cNvCxnSpPr>
          <p:nvPr/>
        </p:nvCxnSpPr>
        <p:spPr>
          <a:xfrm>
            <a:off x="7245350" y="1510015"/>
            <a:ext cx="372794" cy="167669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连接符: 肘形 160">
            <a:extLst>
              <a:ext uri="{FF2B5EF4-FFF2-40B4-BE49-F238E27FC236}">
                <a16:creationId xmlns:a16="http://schemas.microsoft.com/office/drawing/2014/main" id="{72C89AA3-9F95-C80A-4B13-0AAD11A3F141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>
            <a:off x="7245350" y="2480184"/>
            <a:ext cx="372794" cy="70653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033CB97F-5CB4-6E02-582D-BA2F9CA25F79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534911" y="3464145"/>
            <a:ext cx="12011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C139F168-3FDD-2858-B9E1-EE0090F8856E}"/>
              </a:ext>
            </a:extLst>
          </p:cNvPr>
          <p:cNvSpPr/>
          <p:nvPr/>
        </p:nvSpPr>
        <p:spPr>
          <a:xfrm>
            <a:off x="8885845" y="8351369"/>
            <a:ext cx="5498577" cy="1121551"/>
          </a:xfrm>
          <a:prstGeom prst="roundRect">
            <a:avLst/>
          </a:prstGeom>
          <a:solidFill>
            <a:srgbClr val="E5FC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To Mayor and City Council of San Antonio,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Climate Resilience Bonds should be applied to protect the Saint Antonio Missions Historical Park  </a:t>
            </a:r>
          </a:p>
        </p:txBody>
      </p:sp>
      <p:cxnSp>
        <p:nvCxnSpPr>
          <p:cNvPr id="181" name="连接符: 肘形 180">
            <a:extLst>
              <a:ext uri="{FF2B5EF4-FFF2-40B4-BE49-F238E27FC236}">
                <a16:creationId xmlns:a16="http://schemas.microsoft.com/office/drawing/2014/main" id="{BC43584A-FA28-1BCB-6E9C-946B335200D6}"/>
              </a:ext>
            </a:extLst>
          </p:cNvPr>
          <p:cNvCxnSpPr>
            <a:cxnSpLocks/>
            <a:stCxn id="42" idx="1"/>
            <a:endCxn id="178" idx="1"/>
          </p:cNvCxnSpPr>
          <p:nvPr/>
        </p:nvCxnSpPr>
        <p:spPr>
          <a:xfrm rot="10800000" flipH="1" flipV="1">
            <a:off x="8885475" y="6135091"/>
            <a:ext cx="377" cy="2777059"/>
          </a:xfrm>
          <a:prstGeom prst="bentConnector3">
            <a:avLst>
              <a:gd name="adj1" fmla="val -607978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05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矩形 230">
            <a:extLst>
              <a:ext uri="{FF2B5EF4-FFF2-40B4-BE49-F238E27FC236}">
                <a16:creationId xmlns:a16="http://schemas.microsoft.com/office/drawing/2014/main" id="{1E8C697B-5EC5-3E8A-0ED9-42E25FBEF2A6}"/>
              </a:ext>
            </a:extLst>
          </p:cNvPr>
          <p:cNvSpPr/>
          <p:nvPr/>
        </p:nvSpPr>
        <p:spPr>
          <a:xfrm>
            <a:off x="159486" y="5157857"/>
            <a:ext cx="8421443" cy="4562405"/>
          </a:xfrm>
          <a:prstGeom prst="rect">
            <a:avLst/>
          </a:prstGeom>
          <a:solidFill>
            <a:srgbClr val="FCF1E0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88601C15-BE1A-02BD-CF5F-9AF669798B78}"/>
              </a:ext>
            </a:extLst>
          </p:cNvPr>
          <p:cNvSpPr/>
          <p:nvPr/>
        </p:nvSpPr>
        <p:spPr>
          <a:xfrm>
            <a:off x="8689646" y="6150196"/>
            <a:ext cx="8343712" cy="3570066"/>
          </a:xfrm>
          <a:prstGeom prst="rect">
            <a:avLst/>
          </a:prstGeom>
          <a:solidFill>
            <a:srgbClr val="EDF7FF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0D8929F-2E6F-5966-E73D-3CAA2E42F8AA}"/>
              </a:ext>
            </a:extLst>
          </p:cNvPr>
          <p:cNvSpPr/>
          <p:nvPr/>
        </p:nvSpPr>
        <p:spPr>
          <a:xfrm>
            <a:off x="8689647" y="82015"/>
            <a:ext cx="8343711" cy="5977623"/>
          </a:xfrm>
          <a:prstGeom prst="rect">
            <a:avLst/>
          </a:prstGeom>
          <a:solidFill>
            <a:srgbClr val="FCE5E8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E11869D1-532D-DB2F-5C6D-9889197FC2D3}"/>
              </a:ext>
            </a:extLst>
          </p:cNvPr>
          <p:cNvSpPr/>
          <p:nvPr/>
        </p:nvSpPr>
        <p:spPr>
          <a:xfrm>
            <a:off x="159488" y="82015"/>
            <a:ext cx="8421443" cy="4936552"/>
          </a:xfrm>
          <a:prstGeom prst="rect">
            <a:avLst/>
          </a:prstGeom>
          <a:solidFill>
            <a:srgbClr val="F5FFF5"/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9600" tIns="64800" rIns="129600" bIns="64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551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52007F2-0803-4E41-2608-39DE6BBED938}"/>
              </a:ext>
            </a:extLst>
          </p:cNvPr>
          <p:cNvSpPr/>
          <p:nvPr/>
        </p:nvSpPr>
        <p:spPr>
          <a:xfrm>
            <a:off x="2539446" y="2471687"/>
            <a:ext cx="3212892" cy="1043425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Lithium-ion Equivalent</a:t>
            </a:r>
          </a:p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Circuit Model</a:t>
            </a:r>
          </a:p>
          <a:p>
            <a:pPr algn="ctr"/>
            <a:r>
              <a:rPr lang="en-US" altLang="zh-CN" sz="2400" b="1" dirty="0">
                <a:solidFill>
                  <a:schemeClr val="tx1"/>
                </a:solidFill>
                <a:latin typeface="+mn-ea"/>
              </a:rPr>
              <a:t>LECM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5F0A330-CF27-B347-D456-A1D7AD7D9567}"/>
              </a:ext>
            </a:extLst>
          </p:cNvPr>
          <p:cNvSpPr/>
          <p:nvPr/>
        </p:nvSpPr>
        <p:spPr>
          <a:xfrm>
            <a:off x="10953654" y="2410688"/>
            <a:ext cx="4004439" cy="1129864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Multi-factor Coupled Power</a:t>
            </a:r>
          </a:p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 Consumption Model</a:t>
            </a:r>
          </a:p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MCPCM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AC4EA81-C7D5-7568-D018-5FFF495C801B}"/>
              </a:ext>
            </a:extLst>
          </p:cNvPr>
          <p:cNvSpPr/>
          <p:nvPr/>
        </p:nvSpPr>
        <p:spPr>
          <a:xfrm>
            <a:off x="284454" y="898905"/>
            <a:ext cx="2394257" cy="701841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Thevenin Equivalent Circuit Model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18F1C03-171F-BA05-7FAA-A266F7EBC059}"/>
              </a:ext>
            </a:extLst>
          </p:cNvPr>
          <p:cNvSpPr/>
          <p:nvPr/>
        </p:nvSpPr>
        <p:spPr>
          <a:xfrm>
            <a:off x="11011108" y="162309"/>
            <a:ext cx="1776248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Base Power Consumption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8D38876-38CC-A12A-7EF9-6FB8496CC15F}"/>
              </a:ext>
            </a:extLst>
          </p:cNvPr>
          <p:cNvSpPr/>
          <p:nvPr/>
        </p:nvSpPr>
        <p:spPr>
          <a:xfrm>
            <a:off x="12067749" y="1015555"/>
            <a:ext cx="1776248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GPU&amp;CPU</a:t>
            </a:r>
          </a:p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Consumption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DF978D2-411D-7557-44E9-B1088B210DC2}"/>
              </a:ext>
            </a:extLst>
          </p:cNvPr>
          <p:cNvSpPr/>
          <p:nvPr/>
        </p:nvSpPr>
        <p:spPr>
          <a:xfrm>
            <a:off x="13105344" y="180734"/>
            <a:ext cx="1776248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GPS Power Consumption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F4CADC-8B8A-7F2E-6C76-A97BEEF1EB16}"/>
              </a:ext>
            </a:extLst>
          </p:cNvPr>
          <p:cNvSpPr/>
          <p:nvPr/>
        </p:nvSpPr>
        <p:spPr>
          <a:xfrm>
            <a:off x="9756848" y="1014991"/>
            <a:ext cx="1885205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Network Power Consumption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F581FF-E5B2-9780-9B32-1C3C65164012}"/>
              </a:ext>
            </a:extLst>
          </p:cNvPr>
          <p:cNvSpPr/>
          <p:nvPr/>
        </p:nvSpPr>
        <p:spPr>
          <a:xfrm>
            <a:off x="14365493" y="950841"/>
            <a:ext cx="1891060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solidFill>
                  <a:schemeClr val="tx1"/>
                </a:solidFill>
                <a:latin typeface="+mn-ea"/>
              </a:rPr>
              <a:t>Screen Power Consumption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ABD6908-B526-2800-4646-55508FE58027}"/>
              </a:ext>
            </a:extLst>
          </p:cNvPr>
          <p:cNvSpPr/>
          <p:nvPr/>
        </p:nvSpPr>
        <p:spPr>
          <a:xfrm>
            <a:off x="10769593" y="4113639"/>
            <a:ext cx="1885205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Internal Resistance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684468-FB19-EE43-2921-6377F28039F8}"/>
              </a:ext>
            </a:extLst>
          </p:cNvPr>
          <p:cNvSpPr/>
          <p:nvPr/>
        </p:nvSpPr>
        <p:spPr>
          <a:xfrm>
            <a:off x="13294061" y="4113639"/>
            <a:ext cx="1885205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Battery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Capacity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0EC6ADF-3143-30B2-5E98-361644150C6B}"/>
              </a:ext>
            </a:extLst>
          </p:cNvPr>
          <p:cNvSpPr/>
          <p:nvPr/>
        </p:nvSpPr>
        <p:spPr>
          <a:xfrm>
            <a:off x="10769593" y="5157858"/>
            <a:ext cx="1885205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Temperature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97108D8-7E2E-0038-2335-8A0775372409}"/>
              </a:ext>
            </a:extLst>
          </p:cNvPr>
          <p:cNvSpPr/>
          <p:nvPr/>
        </p:nvSpPr>
        <p:spPr>
          <a:xfrm>
            <a:off x="13294060" y="5157858"/>
            <a:ext cx="1885205" cy="701840"/>
          </a:xfrm>
          <a:prstGeom prst="roundRect">
            <a:avLst/>
          </a:prstGeom>
          <a:solidFill>
            <a:srgbClr val="EDF7F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Aging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511AFBF-B98D-DE20-194A-D01CB52ED898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V="1">
            <a:off x="11712196" y="4815479"/>
            <a:ext cx="2524468" cy="342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C6F366C-BFD9-A3FD-69F0-5C926FB4C59A}"/>
              </a:ext>
            </a:extLst>
          </p:cNvPr>
          <p:cNvCxnSpPr>
            <a:cxnSpLocks/>
            <a:stCxn id="15" idx="0"/>
            <a:endCxn id="12" idx="2"/>
          </p:cNvCxnSpPr>
          <p:nvPr/>
        </p:nvCxnSpPr>
        <p:spPr>
          <a:xfrm flipH="1" flipV="1">
            <a:off x="11712196" y="4815479"/>
            <a:ext cx="2524467" cy="342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39942BB-1EBE-9088-0974-E9A04CDD098F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flipV="1">
            <a:off x="11712196" y="4815479"/>
            <a:ext cx="0" cy="342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C7D566D-3F7D-A2CF-62AA-C82418E09E33}"/>
              </a:ext>
            </a:extLst>
          </p:cNvPr>
          <p:cNvCxnSpPr>
            <a:cxnSpLocks/>
            <a:stCxn id="15" idx="0"/>
            <a:endCxn id="13" idx="2"/>
          </p:cNvCxnSpPr>
          <p:nvPr/>
        </p:nvCxnSpPr>
        <p:spPr>
          <a:xfrm flipV="1">
            <a:off x="14236663" y="4815479"/>
            <a:ext cx="1" cy="3423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4B340DC8-6A33-734B-7493-BFCBCFE3C5C4}"/>
              </a:ext>
            </a:extLst>
          </p:cNvPr>
          <p:cNvCxnSpPr>
            <a:cxnSpLocks/>
            <a:stCxn id="12" idx="0"/>
            <a:endCxn id="5" idx="2"/>
          </p:cNvCxnSpPr>
          <p:nvPr/>
        </p:nvCxnSpPr>
        <p:spPr>
          <a:xfrm rot="5400000" flipH="1" flipV="1">
            <a:off x="12047492" y="3205257"/>
            <a:ext cx="573087" cy="124367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7548A8FD-419F-FA4B-86B8-3D31019B8453}"/>
              </a:ext>
            </a:extLst>
          </p:cNvPr>
          <p:cNvCxnSpPr>
            <a:cxnSpLocks/>
            <a:stCxn id="13" idx="0"/>
            <a:endCxn id="5" idx="2"/>
          </p:cNvCxnSpPr>
          <p:nvPr/>
        </p:nvCxnSpPr>
        <p:spPr>
          <a:xfrm rot="16200000" flipV="1">
            <a:off x="13309726" y="3186701"/>
            <a:ext cx="573087" cy="128079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50712F1E-BE24-971B-2E87-FBB5DE31B7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499289" y="935547"/>
            <a:ext cx="693857" cy="2256423"/>
          </a:xfrm>
          <a:prstGeom prst="bentConnector3">
            <a:avLst>
              <a:gd name="adj1" fmla="val 454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136B961D-DC8C-46D1-C288-C38A51459F9F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rot="16200000" flipH="1">
            <a:off x="11654284" y="1109097"/>
            <a:ext cx="1546539" cy="1056642"/>
          </a:xfrm>
          <a:prstGeom prst="bentConnector3">
            <a:avLst>
              <a:gd name="adj1" fmla="val 7600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49">
            <a:extLst>
              <a:ext uri="{FF2B5EF4-FFF2-40B4-BE49-F238E27FC236}">
                <a16:creationId xmlns:a16="http://schemas.microsoft.com/office/drawing/2014/main" id="{1D619657-4063-14B6-B503-50DDBC1E4155}"/>
              </a:ext>
            </a:extLst>
          </p:cNvPr>
          <p:cNvCxnSpPr>
            <a:cxnSpLocks/>
            <a:stCxn id="9" idx="2"/>
            <a:endCxn id="5" idx="0"/>
          </p:cNvCxnSpPr>
          <p:nvPr/>
        </p:nvCxnSpPr>
        <p:spPr>
          <a:xfrm rot="5400000">
            <a:off x="12710614" y="1127834"/>
            <a:ext cx="1528114" cy="1037594"/>
          </a:xfrm>
          <a:prstGeom prst="bentConnector3">
            <a:avLst>
              <a:gd name="adj1" fmla="val 750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B88C3897-92B9-6C8D-D9B2-75A5BD0EA130}"/>
              </a:ext>
            </a:extLst>
          </p:cNvPr>
          <p:cNvCxnSpPr>
            <a:cxnSpLocks/>
            <a:endCxn id="5" idx="0"/>
          </p:cNvCxnSpPr>
          <p:nvPr/>
        </p:nvCxnSpPr>
        <p:spPr>
          <a:xfrm rot="5400000">
            <a:off x="13806378" y="874310"/>
            <a:ext cx="685874" cy="2386882"/>
          </a:xfrm>
          <a:prstGeom prst="bentConnector3">
            <a:avLst>
              <a:gd name="adj1" fmla="val 4487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13E3024F-4E0E-2D7E-BA29-4BD3FD95E21E}"/>
              </a:ext>
            </a:extLst>
          </p:cNvPr>
          <p:cNvCxnSpPr>
            <a:cxnSpLocks/>
            <a:stCxn id="8" idx="2"/>
            <a:endCxn id="5" idx="0"/>
          </p:cNvCxnSpPr>
          <p:nvPr/>
        </p:nvCxnSpPr>
        <p:spPr>
          <a:xfrm>
            <a:off x="12955873" y="1717395"/>
            <a:ext cx="1" cy="6932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18ED21D-BE77-C7CF-3690-E41EA0C04D37}"/>
              </a:ext>
            </a:extLst>
          </p:cNvPr>
          <p:cNvSpPr/>
          <p:nvPr/>
        </p:nvSpPr>
        <p:spPr>
          <a:xfrm>
            <a:off x="2932861" y="898904"/>
            <a:ext cx="2394257" cy="701841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Definition of SOC 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02EF54DA-CDBF-8A49-15AB-392CDFF8CC1C}"/>
              </a:ext>
            </a:extLst>
          </p:cNvPr>
          <p:cNvSpPr/>
          <p:nvPr/>
        </p:nvSpPr>
        <p:spPr>
          <a:xfrm>
            <a:off x="5597171" y="925931"/>
            <a:ext cx="2394257" cy="701841"/>
          </a:xfrm>
          <a:prstGeom prst="roundRect">
            <a:avLst/>
          </a:prstGeom>
          <a:solidFill>
            <a:srgbClr val="FCE5E8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Kirchhoff laws</a:t>
            </a: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B9E6DF48-CA81-B620-3EC4-B7B2A33D3720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>
          <a:xfrm rot="16200000" flipH="1">
            <a:off x="2378267" y="704061"/>
            <a:ext cx="870941" cy="266430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9981D851-73D7-D4E8-4018-B8D30105F8B3}"/>
              </a:ext>
            </a:extLst>
          </p:cNvPr>
          <p:cNvCxnSpPr>
            <a:cxnSpLocks/>
            <a:stCxn id="66" idx="2"/>
            <a:endCxn id="4" idx="0"/>
          </p:cNvCxnSpPr>
          <p:nvPr/>
        </p:nvCxnSpPr>
        <p:spPr>
          <a:xfrm rot="5400000">
            <a:off x="5048139" y="725525"/>
            <a:ext cx="843915" cy="264840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F1E146A-104D-B16D-2D2F-06C192580638}"/>
              </a:ext>
            </a:extLst>
          </p:cNvPr>
          <p:cNvCxnSpPr>
            <a:cxnSpLocks/>
            <a:stCxn id="65" idx="2"/>
            <a:endCxn id="4" idx="0"/>
          </p:cNvCxnSpPr>
          <p:nvPr/>
        </p:nvCxnSpPr>
        <p:spPr>
          <a:xfrm>
            <a:off x="4129990" y="1600745"/>
            <a:ext cx="15902" cy="8709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D9FF1831-86E1-6291-85E3-18FB2DE3FB2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5752338" y="2975620"/>
            <a:ext cx="5201316" cy="177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AB12D6B3-3162-911A-7603-59BAB727932E}"/>
              </a:ext>
            </a:extLst>
          </p:cNvPr>
          <p:cNvSpPr/>
          <p:nvPr/>
        </p:nvSpPr>
        <p:spPr>
          <a:xfrm>
            <a:off x="11093118" y="7108196"/>
            <a:ext cx="2480070" cy="554876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+mn-ea"/>
              </a:rPr>
              <a:t>Model Validation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2AF450F7-6D5E-822F-1177-E1886D32E04D}"/>
              </a:ext>
            </a:extLst>
          </p:cNvPr>
          <p:cNvSpPr/>
          <p:nvPr/>
        </p:nvSpPr>
        <p:spPr>
          <a:xfrm>
            <a:off x="8866393" y="8814012"/>
            <a:ext cx="2087261" cy="701840"/>
          </a:xfrm>
          <a:prstGeom prst="roundRect">
            <a:avLst/>
          </a:prstGeom>
          <a:solidFill>
            <a:srgbClr val="96CAA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Light Usage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E-Books Reading</a:t>
            </a:r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7D219BC1-A5BC-43BB-ACC9-C5A496202F86}"/>
              </a:ext>
            </a:extLst>
          </p:cNvPr>
          <p:cNvSpPr/>
          <p:nvPr/>
        </p:nvSpPr>
        <p:spPr>
          <a:xfrm>
            <a:off x="11300427" y="8814012"/>
            <a:ext cx="2087261" cy="701840"/>
          </a:xfrm>
          <a:prstGeom prst="roundRect">
            <a:avLst/>
          </a:prstGeom>
          <a:solidFill>
            <a:srgbClr val="8DA5CD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Medium Usage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Videos Watching</a:t>
            </a:r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C6449CD0-1A69-3F5C-0D5C-BA8BDFF1A23A}"/>
              </a:ext>
            </a:extLst>
          </p:cNvPr>
          <p:cNvSpPr/>
          <p:nvPr/>
        </p:nvSpPr>
        <p:spPr>
          <a:xfrm>
            <a:off x="13682441" y="8814012"/>
            <a:ext cx="2087261" cy="701840"/>
          </a:xfrm>
          <a:prstGeom prst="roundRect">
            <a:avLst/>
          </a:prstGeom>
          <a:solidFill>
            <a:srgbClr val="DF9D9F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Heavy Usage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Gaming</a:t>
            </a: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9487083F-395B-7A62-AD08-45C08C962E5F}"/>
              </a:ext>
            </a:extLst>
          </p:cNvPr>
          <p:cNvSpPr/>
          <p:nvPr/>
        </p:nvSpPr>
        <p:spPr>
          <a:xfrm>
            <a:off x="11300427" y="7931583"/>
            <a:ext cx="2087261" cy="425039"/>
          </a:xfrm>
          <a:prstGeom prst="roundRect">
            <a:avLst/>
          </a:prstGeom>
          <a:solidFill>
            <a:srgbClr val="FBE3D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4 scenarios</a:t>
            </a:r>
          </a:p>
        </p:txBody>
      </p:sp>
      <p:cxnSp>
        <p:nvCxnSpPr>
          <p:cNvPr id="134" name="连接符: 肘形 133">
            <a:extLst>
              <a:ext uri="{FF2B5EF4-FFF2-40B4-BE49-F238E27FC236}">
                <a16:creationId xmlns:a16="http://schemas.microsoft.com/office/drawing/2014/main" id="{0ADE80D6-84AE-7206-C471-29C385525015}"/>
              </a:ext>
            </a:extLst>
          </p:cNvPr>
          <p:cNvCxnSpPr>
            <a:cxnSpLocks/>
            <a:stCxn id="130" idx="0"/>
            <a:endCxn id="133" idx="2"/>
          </p:cNvCxnSpPr>
          <p:nvPr/>
        </p:nvCxnSpPr>
        <p:spPr>
          <a:xfrm rot="5400000" flipH="1" flipV="1">
            <a:off x="10898346" y="7368300"/>
            <a:ext cx="457390" cy="243403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>
            <a:extLst>
              <a:ext uri="{FF2B5EF4-FFF2-40B4-BE49-F238E27FC236}">
                <a16:creationId xmlns:a16="http://schemas.microsoft.com/office/drawing/2014/main" id="{8344889E-8F99-D584-439F-B4B49D9D57F9}"/>
              </a:ext>
            </a:extLst>
          </p:cNvPr>
          <p:cNvCxnSpPr>
            <a:cxnSpLocks/>
            <a:stCxn id="132" idx="0"/>
            <a:endCxn id="133" idx="2"/>
          </p:cNvCxnSpPr>
          <p:nvPr/>
        </p:nvCxnSpPr>
        <p:spPr>
          <a:xfrm rot="16200000" flipV="1">
            <a:off x="13306370" y="7394310"/>
            <a:ext cx="457390" cy="238201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D4FFBAE7-3A2B-EB29-AAC5-781DDD05BD8A}"/>
              </a:ext>
            </a:extLst>
          </p:cNvPr>
          <p:cNvCxnSpPr>
            <a:cxnSpLocks/>
            <a:stCxn id="131" idx="0"/>
            <a:endCxn id="133" idx="2"/>
          </p:cNvCxnSpPr>
          <p:nvPr/>
        </p:nvCxnSpPr>
        <p:spPr>
          <a:xfrm flipV="1">
            <a:off x="12344058" y="8356622"/>
            <a:ext cx="0" cy="45739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B8DA70CF-C1BE-EBBE-CADB-90991D929344}"/>
              </a:ext>
            </a:extLst>
          </p:cNvPr>
          <p:cNvCxnSpPr>
            <a:cxnSpLocks/>
            <a:stCxn id="133" idx="0"/>
            <a:endCxn id="90" idx="2"/>
          </p:cNvCxnSpPr>
          <p:nvPr/>
        </p:nvCxnSpPr>
        <p:spPr>
          <a:xfrm flipH="1" flipV="1">
            <a:off x="12333153" y="7663072"/>
            <a:ext cx="10905" cy="2685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矩形: 圆角 165">
            <a:extLst>
              <a:ext uri="{FF2B5EF4-FFF2-40B4-BE49-F238E27FC236}">
                <a16:creationId xmlns:a16="http://schemas.microsoft.com/office/drawing/2014/main" id="{B5A319AC-9B2B-0063-9C5E-59CBB6136929}"/>
              </a:ext>
            </a:extLst>
          </p:cNvPr>
          <p:cNvSpPr/>
          <p:nvPr/>
        </p:nvSpPr>
        <p:spPr>
          <a:xfrm>
            <a:off x="14778091" y="7775624"/>
            <a:ext cx="2087261" cy="7018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Mixed Usage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Daliy Usage</a:t>
            </a:r>
          </a:p>
        </p:txBody>
      </p: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010E4739-D547-C6CD-29D7-35BE15D6FC1C}"/>
              </a:ext>
            </a:extLst>
          </p:cNvPr>
          <p:cNvCxnSpPr>
            <a:cxnSpLocks/>
            <a:stCxn id="166" idx="1"/>
            <a:endCxn id="133" idx="3"/>
          </p:cNvCxnSpPr>
          <p:nvPr/>
        </p:nvCxnSpPr>
        <p:spPr>
          <a:xfrm flipH="1">
            <a:off x="13387688" y="8126544"/>
            <a:ext cx="1390403" cy="1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4E143B6F-96DD-43B6-C255-6CA50CF21045}"/>
              </a:ext>
            </a:extLst>
          </p:cNvPr>
          <p:cNvGrpSpPr/>
          <p:nvPr/>
        </p:nvGrpSpPr>
        <p:grpSpPr>
          <a:xfrm>
            <a:off x="6206343" y="3622118"/>
            <a:ext cx="3151668" cy="2268224"/>
            <a:chOff x="6403041" y="5386326"/>
            <a:chExt cx="3151668" cy="2268224"/>
          </a:xfrm>
        </p:grpSpPr>
        <p:sp>
          <p:nvSpPr>
            <p:cNvPr id="165" name="矩形: 圆角 164">
              <a:extLst>
                <a:ext uri="{FF2B5EF4-FFF2-40B4-BE49-F238E27FC236}">
                  <a16:creationId xmlns:a16="http://schemas.microsoft.com/office/drawing/2014/main" id="{02BCAB3F-5D88-0D58-FEE5-63A777B6F71E}"/>
                </a:ext>
              </a:extLst>
            </p:cNvPr>
            <p:cNvSpPr/>
            <p:nvPr/>
          </p:nvSpPr>
          <p:spPr>
            <a:xfrm>
              <a:off x="6403041" y="5386326"/>
              <a:ext cx="3151668" cy="226822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  <a:latin typeface="+mn-ea"/>
                </a:rPr>
                <a:t>Dataset Preparation</a:t>
              </a:r>
            </a:p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+mn-ea"/>
                </a:rPr>
                <a:t>Based on Google Pixel 8</a:t>
              </a: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endParaRPr lang="en-US" altLang="zh-CN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71" name="图片 170">
              <a:extLst>
                <a:ext uri="{FF2B5EF4-FFF2-40B4-BE49-F238E27FC236}">
                  <a16:creationId xmlns:a16="http://schemas.microsoft.com/office/drawing/2014/main" id="{2A31E385-A40D-6E12-A1AE-E354DD707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47" r="24137"/>
            <a:stretch>
              <a:fillRect/>
            </a:stretch>
          </p:blipFill>
          <p:spPr>
            <a:xfrm>
              <a:off x="7964963" y="6210827"/>
              <a:ext cx="1104501" cy="1409431"/>
            </a:xfrm>
            <a:prstGeom prst="rect">
              <a:avLst/>
            </a:prstGeom>
          </p:spPr>
        </p:pic>
      </p:grpSp>
      <p:cxnSp>
        <p:nvCxnSpPr>
          <p:cNvPr id="173" name="连接符: 肘形 172">
            <a:extLst>
              <a:ext uri="{FF2B5EF4-FFF2-40B4-BE49-F238E27FC236}">
                <a16:creationId xmlns:a16="http://schemas.microsoft.com/office/drawing/2014/main" id="{E0E20169-B050-751B-6F2D-CF772411F8FF}"/>
              </a:ext>
            </a:extLst>
          </p:cNvPr>
          <p:cNvCxnSpPr>
            <a:cxnSpLocks/>
            <a:stCxn id="165" idx="2"/>
            <a:endCxn id="90" idx="0"/>
          </p:cNvCxnSpPr>
          <p:nvPr/>
        </p:nvCxnSpPr>
        <p:spPr>
          <a:xfrm rot="16200000" flipH="1">
            <a:off x="9448738" y="4223781"/>
            <a:ext cx="1217854" cy="455097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C4FAC64C-F8A7-3BAB-13D1-3F3BB9D6CE16}"/>
              </a:ext>
            </a:extLst>
          </p:cNvPr>
          <p:cNvCxnSpPr>
            <a:cxnSpLocks/>
            <a:stCxn id="5" idx="3"/>
            <a:endCxn id="90" idx="3"/>
          </p:cNvCxnSpPr>
          <p:nvPr/>
        </p:nvCxnSpPr>
        <p:spPr>
          <a:xfrm flipH="1">
            <a:off x="13573188" y="2975620"/>
            <a:ext cx="1384905" cy="4410014"/>
          </a:xfrm>
          <a:prstGeom prst="bentConnector3">
            <a:avLst>
              <a:gd name="adj1" fmla="val -748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矩形: 圆角 231">
            <a:extLst>
              <a:ext uri="{FF2B5EF4-FFF2-40B4-BE49-F238E27FC236}">
                <a16:creationId xmlns:a16="http://schemas.microsoft.com/office/drawing/2014/main" id="{4525E699-7D1B-6D02-DD38-289B8A4663BA}"/>
              </a:ext>
            </a:extLst>
          </p:cNvPr>
          <p:cNvSpPr/>
          <p:nvPr/>
        </p:nvSpPr>
        <p:spPr>
          <a:xfrm>
            <a:off x="3124551" y="6245715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Sensitivity Analysis</a:t>
            </a:r>
          </a:p>
        </p:txBody>
      </p:sp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380E2041-E953-0222-0309-5FE5E02CB22F}"/>
              </a:ext>
            </a:extLst>
          </p:cNvPr>
          <p:cNvSpPr/>
          <p:nvPr/>
        </p:nvSpPr>
        <p:spPr>
          <a:xfrm>
            <a:off x="3065201" y="8610056"/>
            <a:ext cx="3151668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Advice For Users</a:t>
            </a:r>
          </a:p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 and Enterprises</a:t>
            </a:r>
          </a:p>
        </p:txBody>
      </p:sp>
      <p:cxnSp>
        <p:nvCxnSpPr>
          <p:cNvPr id="234" name="连接符: 肘形 233">
            <a:extLst>
              <a:ext uri="{FF2B5EF4-FFF2-40B4-BE49-F238E27FC236}">
                <a16:creationId xmlns:a16="http://schemas.microsoft.com/office/drawing/2014/main" id="{14E25844-AC69-C6BE-0EBB-3EC94562DC34}"/>
              </a:ext>
            </a:extLst>
          </p:cNvPr>
          <p:cNvCxnSpPr>
            <a:cxnSpLocks/>
            <a:stCxn id="90" idx="1"/>
            <a:endCxn id="232" idx="3"/>
          </p:cNvCxnSpPr>
          <p:nvPr/>
        </p:nvCxnSpPr>
        <p:spPr>
          <a:xfrm rot="10800000">
            <a:off x="6276220" y="6523154"/>
            <a:ext cx="4816899" cy="862481"/>
          </a:xfrm>
          <a:prstGeom prst="bentConnector3">
            <a:avLst>
              <a:gd name="adj1" fmla="val 9238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61C9A33E-5C1B-B6E6-F72A-8603FBA53CCB}"/>
              </a:ext>
            </a:extLst>
          </p:cNvPr>
          <p:cNvCxnSpPr>
            <a:cxnSpLocks/>
            <a:stCxn id="90" idx="1"/>
            <a:endCxn id="233" idx="3"/>
          </p:cNvCxnSpPr>
          <p:nvPr/>
        </p:nvCxnSpPr>
        <p:spPr>
          <a:xfrm rot="10800000" flipV="1">
            <a:off x="6216870" y="7385634"/>
            <a:ext cx="4876249" cy="1501860"/>
          </a:xfrm>
          <a:prstGeom prst="bentConnector3">
            <a:avLst>
              <a:gd name="adj1" fmla="val 9121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矩形: 圆角 243">
            <a:extLst>
              <a:ext uri="{FF2B5EF4-FFF2-40B4-BE49-F238E27FC236}">
                <a16:creationId xmlns:a16="http://schemas.microsoft.com/office/drawing/2014/main" id="{E87BF049-E6C0-346C-E648-678B049FA6EF}"/>
              </a:ext>
            </a:extLst>
          </p:cNvPr>
          <p:cNvSpPr/>
          <p:nvPr/>
        </p:nvSpPr>
        <p:spPr>
          <a:xfrm>
            <a:off x="707189" y="5384392"/>
            <a:ext cx="1825983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Temperature</a:t>
            </a:r>
          </a:p>
        </p:txBody>
      </p:sp>
      <p:sp>
        <p:nvSpPr>
          <p:cNvPr id="245" name="矩形: 圆角 244">
            <a:extLst>
              <a:ext uri="{FF2B5EF4-FFF2-40B4-BE49-F238E27FC236}">
                <a16:creationId xmlns:a16="http://schemas.microsoft.com/office/drawing/2014/main" id="{3DDBBFEC-5732-3ABC-7FEE-256BF705826D}"/>
              </a:ext>
            </a:extLst>
          </p:cNvPr>
          <p:cNvSpPr/>
          <p:nvPr/>
        </p:nvSpPr>
        <p:spPr>
          <a:xfrm>
            <a:off x="707189" y="6259858"/>
            <a:ext cx="1825983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Cycle Times</a:t>
            </a:r>
          </a:p>
        </p:txBody>
      </p:sp>
      <p:sp>
        <p:nvSpPr>
          <p:cNvPr id="246" name="矩形: 圆角 245">
            <a:extLst>
              <a:ext uri="{FF2B5EF4-FFF2-40B4-BE49-F238E27FC236}">
                <a16:creationId xmlns:a16="http://schemas.microsoft.com/office/drawing/2014/main" id="{EDAAE294-D1CE-D29D-7456-34A864AE6860}"/>
              </a:ext>
            </a:extLst>
          </p:cNvPr>
          <p:cNvSpPr/>
          <p:nvPr/>
        </p:nvSpPr>
        <p:spPr>
          <a:xfrm>
            <a:off x="707189" y="7114594"/>
            <a:ext cx="1825983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Base Power</a:t>
            </a:r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485DE253-F85F-E11F-BAE7-E31877A6AADA}"/>
              </a:ext>
            </a:extLst>
          </p:cNvPr>
          <p:cNvSpPr/>
          <p:nvPr/>
        </p:nvSpPr>
        <p:spPr>
          <a:xfrm>
            <a:off x="675864" y="7971111"/>
            <a:ext cx="1825983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For Users</a:t>
            </a:r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9DC4D2B0-094A-0DE9-2229-AE4E3D2D037B}"/>
              </a:ext>
            </a:extLst>
          </p:cNvPr>
          <p:cNvSpPr/>
          <p:nvPr/>
        </p:nvSpPr>
        <p:spPr>
          <a:xfrm>
            <a:off x="675864" y="8848359"/>
            <a:ext cx="1825983" cy="554876"/>
          </a:xfrm>
          <a:prstGeom prst="roundRect">
            <a:avLst/>
          </a:prstGeom>
          <a:solidFill>
            <a:srgbClr val="F5FFF5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+mn-ea"/>
              </a:rPr>
              <a:t>For Enterprises</a:t>
            </a:r>
          </a:p>
        </p:txBody>
      </p:sp>
      <p:cxnSp>
        <p:nvCxnSpPr>
          <p:cNvPr id="252" name="连接符: 肘形 251">
            <a:extLst>
              <a:ext uri="{FF2B5EF4-FFF2-40B4-BE49-F238E27FC236}">
                <a16:creationId xmlns:a16="http://schemas.microsoft.com/office/drawing/2014/main" id="{F0CB4D7D-D16A-5FBB-6FC0-3E9A7A5E814B}"/>
              </a:ext>
            </a:extLst>
          </p:cNvPr>
          <p:cNvCxnSpPr>
            <a:cxnSpLocks/>
            <a:stCxn id="232" idx="1"/>
            <a:endCxn id="244" idx="3"/>
          </p:cNvCxnSpPr>
          <p:nvPr/>
        </p:nvCxnSpPr>
        <p:spPr>
          <a:xfrm rot="10800000">
            <a:off x="2533173" y="5661831"/>
            <a:ext cx="591379" cy="86132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连接符: 肘形 254">
            <a:extLst>
              <a:ext uri="{FF2B5EF4-FFF2-40B4-BE49-F238E27FC236}">
                <a16:creationId xmlns:a16="http://schemas.microsoft.com/office/drawing/2014/main" id="{42BF9D56-627E-BD2F-8BA4-E21EACDA7631}"/>
              </a:ext>
            </a:extLst>
          </p:cNvPr>
          <p:cNvCxnSpPr>
            <a:cxnSpLocks/>
            <a:stCxn id="232" idx="1"/>
            <a:endCxn id="246" idx="3"/>
          </p:cNvCxnSpPr>
          <p:nvPr/>
        </p:nvCxnSpPr>
        <p:spPr>
          <a:xfrm rot="10800000" flipV="1">
            <a:off x="2533173" y="6523152"/>
            <a:ext cx="591379" cy="86887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连接符: 肘形 257">
            <a:extLst>
              <a:ext uri="{FF2B5EF4-FFF2-40B4-BE49-F238E27FC236}">
                <a16:creationId xmlns:a16="http://schemas.microsoft.com/office/drawing/2014/main" id="{70A6F9E8-B795-520E-B4E2-1EA12A48B8F1}"/>
              </a:ext>
            </a:extLst>
          </p:cNvPr>
          <p:cNvCxnSpPr>
            <a:cxnSpLocks/>
            <a:stCxn id="233" idx="1"/>
            <a:endCxn id="250" idx="3"/>
          </p:cNvCxnSpPr>
          <p:nvPr/>
        </p:nvCxnSpPr>
        <p:spPr>
          <a:xfrm rot="10800000">
            <a:off x="2501847" y="8248550"/>
            <a:ext cx="563354" cy="63894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连接符: 肘形 260">
            <a:extLst>
              <a:ext uri="{FF2B5EF4-FFF2-40B4-BE49-F238E27FC236}">
                <a16:creationId xmlns:a16="http://schemas.microsoft.com/office/drawing/2014/main" id="{49584981-43EB-AADF-3F35-A454D624FB43}"/>
              </a:ext>
            </a:extLst>
          </p:cNvPr>
          <p:cNvCxnSpPr>
            <a:cxnSpLocks/>
            <a:stCxn id="233" idx="1"/>
            <a:endCxn id="251" idx="3"/>
          </p:cNvCxnSpPr>
          <p:nvPr/>
        </p:nvCxnSpPr>
        <p:spPr>
          <a:xfrm rot="10800000" flipV="1">
            <a:off x="2501847" y="8887493"/>
            <a:ext cx="563354" cy="23830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>
            <a:extLst>
              <a:ext uri="{FF2B5EF4-FFF2-40B4-BE49-F238E27FC236}">
                <a16:creationId xmlns:a16="http://schemas.microsoft.com/office/drawing/2014/main" id="{51D17A28-9407-B92C-794D-6B58BFBCA6CE}"/>
              </a:ext>
            </a:extLst>
          </p:cNvPr>
          <p:cNvCxnSpPr>
            <a:cxnSpLocks/>
            <a:endCxn id="245" idx="3"/>
          </p:cNvCxnSpPr>
          <p:nvPr/>
        </p:nvCxnSpPr>
        <p:spPr>
          <a:xfrm flipH="1">
            <a:off x="2533172" y="6512741"/>
            <a:ext cx="532029" cy="245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形 2" descr="数据库 纯色填充">
            <a:extLst>
              <a:ext uri="{FF2B5EF4-FFF2-40B4-BE49-F238E27FC236}">
                <a16:creationId xmlns:a16="http://schemas.microsoft.com/office/drawing/2014/main" id="{0CB1EE00-9136-1752-FB38-BD9F60F67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0148" y="4504079"/>
            <a:ext cx="1376968" cy="1376968"/>
          </a:xfrm>
          <a:prstGeom prst="rect">
            <a:avLst/>
          </a:prstGeom>
        </p:spPr>
      </p:pic>
      <p:pic>
        <p:nvPicPr>
          <p:cNvPr id="16" name="图形 15" descr="处理器 纯色填充">
            <a:extLst>
              <a:ext uri="{FF2B5EF4-FFF2-40B4-BE49-F238E27FC236}">
                <a16:creationId xmlns:a16="http://schemas.microsoft.com/office/drawing/2014/main" id="{43F54B46-7927-859D-79C3-97F24849D8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55772" y="1008136"/>
            <a:ext cx="434832" cy="434832"/>
          </a:xfrm>
          <a:prstGeom prst="rect">
            <a:avLst/>
          </a:prstGeom>
        </p:spPr>
      </p:pic>
      <p:pic>
        <p:nvPicPr>
          <p:cNvPr id="17" name="图形 16" descr="智能手机 纯色填充">
            <a:extLst>
              <a:ext uri="{FF2B5EF4-FFF2-40B4-BE49-F238E27FC236}">
                <a16:creationId xmlns:a16="http://schemas.microsoft.com/office/drawing/2014/main" id="{4F5DB56B-DB12-4026-1022-2527DA6D3A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21721" y="1084345"/>
            <a:ext cx="434832" cy="434832"/>
          </a:xfrm>
          <a:prstGeom prst="rect">
            <a:avLst/>
          </a:prstGeom>
        </p:spPr>
      </p:pic>
      <p:pic>
        <p:nvPicPr>
          <p:cNvPr id="20" name="图形 19" descr="信号 纯色填充">
            <a:extLst>
              <a:ext uri="{FF2B5EF4-FFF2-40B4-BE49-F238E27FC236}">
                <a16:creationId xmlns:a16="http://schemas.microsoft.com/office/drawing/2014/main" id="{79EB1EEC-05A4-7A78-F867-AC94CC80A6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71216" y="1298078"/>
            <a:ext cx="380114" cy="380114"/>
          </a:xfrm>
          <a:prstGeom prst="rect">
            <a:avLst/>
          </a:prstGeom>
        </p:spPr>
      </p:pic>
      <p:pic>
        <p:nvPicPr>
          <p:cNvPr id="25" name="图形 24" descr="Cmd 终端 纯色填充">
            <a:extLst>
              <a:ext uri="{FF2B5EF4-FFF2-40B4-BE49-F238E27FC236}">
                <a16:creationId xmlns:a16="http://schemas.microsoft.com/office/drawing/2014/main" id="{5CAC296D-0357-971F-EB9B-BF16C432A2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333153" y="171753"/>
            <a:ext cx="434832" cy="434832"/>
          </a:xfrm>
          <a:prstGeom prst="rect">
            <a:avLst/>
          </a:prstGeom>
        </p:spPr>
      </p:pic>
      <p:pic>
        <p:nvPicPr>
          <p:cNvPr id="39" name="图形 38" descr="方向 纯色填充">
            <a:extLst>
              <a:ext uri="{FF2B5EF4-FFF2-40B4-BE49-F238E27FC236}">
                <a16:creationId xmlns:a16="http://schemas.microsoft.com/office/drawing/2014/main" id="{46C44A3A-AE24-E2D5-C487-9931527B67F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385652" y="232685"/>
            <a:ext cx="495940" cy="495940"/>
          </a:xfrm>
          <a:prstGeom prst="rect">
            <a:avLst/>
          </a:prstGeom>
        </p:spPr>
      </p:pic>
      <p:pic>
        <p:nvPicPr>
          <p:cNvPr id="40" name="图形 39" descr="复选标记 纯色填充">
            <a:extLst>
              <a:ext uri="{FF2B5EF4-FFF2-40B4-BE49-F238E27FC236}">
                <a16:creationId xmlns:a16="http://schemas.microsoft.com/office/drawing/2014/main" id="{0E5D0143-389C-2972-AE41-370220EEE9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568405" y="6234202"/>
            <a:ext cx="914400" cy="914400"/>
          </a:xfrm>
          <a:prstGeom prst="rect">
            <a:avLst/>
          </a:prstGeom>
        </p:spPr>
      </p:pic>
      <p:pic>
        <p:nvPicPr>
          <p:cNvPr id="45" name="图形 44" descr="电量用尽的电池 纯色填充">
            <a:extLst>
              <a:ext uri="{FF2B5EF4-FFF2-40B4-BE49-F238E27FC236}">
                <a16:creationId xmlns:a16="http://schemas.microsoft.com/office/drawing/2014/main" id="{59DCA5C0-D5CA-31B4-2681-E345158775A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9081" y="3472142"/>
            <a:ext cx="1679192" cy="1679192"/>
          </a:xfrm>
          <a:prstGeom prst="rect">
            <a:avLst/>
          </a:prstGeom>
        </p:spPr>
      </p:pic>
      <p:pic>
        <p:nvPicPr>
          <p:cNvPr id="48" name="图形 47" descr="周期图 纯色填充">
            <a:extLst>
              <a:ext uri="{FF2B5EF4-FFF2-40B4-BE49-F238E27FC236}">
                <a16:creationId xmlns:a16="http://schemas.microsoft.com/office/drawing/2014/main" id="{61C01441-2E4B-01D0-38E0-CF28A190C0A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039129" y="6954395"/>
            <a:ext cx="1339438" cy="1339438"/>
          </a:xfrm>
          <a:prstGeom prst="rect">
            <a:avLst/>
          </a:prstGeom>
        </p:spPr>
      </p:pic>
      <p:pic>
        <p:nvPicPr>
          <p:cNvPr id="51" name="图形 50" descr="电量充足的电池 纯色填充">
            <a:extLst>
              <a:ext uri="{FF2B5EF4-FFF2-40B4-BE49-F238E27FC236}">
                <a16:creationId xmlns:a16="http://schemas.microsoft.com/office/drawing/2014/main" id="{27629D37-2971-D701-2D46-AB351A2C357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57060" y="3472142"/>
            <a:ext cx="1679192" cy="167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1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B26F92A6-6048-40E6-195E-2748D347B0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1836941"/>
            <a:ext cx="17279938" cy="6047979"/>
          </a:xfrm>
          <a:prstGeom prst="rect">
            <a:avLst/>
          </a:prstGeom>
        </p:spPr>
      </p:pic>
      <p:pic>
        <p:nvPicPr>
          <p:cNvPr id="7" name="图形 6" descr="信号 纯色填充">
            <a:extLst>
              <a:ext uri="{FF2B5EF4-FFF2-40B4-BE49-F238E27FC236}">
                <a16:creationId xmlns:a16="http://schemas.microsoft.com/office/drawing/2014/main" id="{E9512036-B7F2-ED23-D27A-B915A32CC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9637" y="2557821"/>
            <a:ext cx="380114" cy="380114"/>
          </a:xfrm>
          <a:prstGeom prst="rect">
            <a:avLst/>
          </a:prstGeom>
        </p:spPr>
      </p:pic>
      <p:pic>
        <p:nvPicPr>
          <p:cNvPr id="9" name="图形 8" descr="音量 纯色填充">
            <a:extLst>
              <a:ext uri="{FF2B5EF4-FFF2-40B4-BE49-F238E27FC236}">
                <a16:creationId xmlns:a16="http://schemas.microsoft.com/office/drawing/2014/main" id="{FBC4FD66-9262-0D78-FBAA-C0F0055ED7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7420" y="2589576"/>
            <a:ext cx="380113" cy="380113"/>
          </a:xfrm>
          <a:prstGeom prst="rect">
            <a:avLst/>
          </a:prstGeom>
        </p:spPr>
      </p:pic>
      <p:pic>
        <p:nvPicPr>
          <p:cNvPr id="11" name="图形 10" descr="智能手机 纯色填充">
            <a:extLst>
              <a:ext uri="{FF2B5EF4-FFF2-40B4-BE49-F238E27FC236}">
                <a16:creationId xmlns:a16="http://schemas.microsoft.com/office/drawing/2014/main" id="{F11108D0-166B-CC90-0983-47C6B8A061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63828" y="4059452"/>
            <a:ext cx="434832" cy="434832"/>
          </a:xfrm>
          <a:prstGeom prst="rect">
            <a:avLst/>
          </a:prstGeom>
        </p:spPr>
      </p:pic>
      <p:pic>
        <p:nvPicPr>
          <p:cNvPr id="13" name="图形 12" descr="处理器 纯色填充">
            <a:extLst>
              <a:ext uri="{FF2B5EF4-FFF2-40B4-BE49-F238E27FC236}">
                <a16:creationId xmlns:a16="http://schemas.microsoft.com/office/drawing/2014/main" id="{4EAB5B52-9365-F9C0-4F9A-EE6ABFB8B2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6309" y="6366018"/>
            <a:ext cx="434832" cy="434832"/>
          </a:xfrm>
          <a:prstGeom prst="rect">
            <a:avLst/>
          </a:prstGeom>
        </p:spPr>
      </p:pic>
      <p:pic>
        <p:nvPicPr>
          <p:cNvPr id="22" name="图形 21" descr="处理器 纯色填充">
            <a:extLst>
              <a:ext uri="{FF2B5EF4-FFF2-40B4-BE49-F238E27FC236}">
                <a16:creationId xmlns:a16="http://schemas.microsoft.com/office/drawing/2014/main" id="{A88FD1A6-1A57-1DDF-371D-FD50A25777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60016" y="2832386"/>
            <a:ext cx="434832" cy="434832"/>
          </a:xfrm>
          <a:prstGeom prst="rect">
            <a:avLst/>
          </a:prstGeom>
        </p:spPr>
      </p:pic>
      <p:pic>
        <p:nvPicPr>
          <p:cNvPr id="24" name="图形 23" descr="Cmd 终端 纯色填充">
            <a:extLst>
              <a:ext uri="{FF2B5EF4-FFF2-40B4-BE49-F238E27FC236}">
                <a16:creationId xmlns:a16="http://schemas.microsoft.com/office/drawing/2014/main" id="{BF14A649-0E59-0754-FDA7-2535226840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85035" y="2937934"/>
            <a:ext cx="434832" cy="434832"/>
          </a:xfrm>
          <a:prstGeom prst="rect">
            <a:avLst/>
          </a:prstGeom>
        </p:spPr>
      </p:pic>
      <p:pic>
        <p:nvPicPr>
          <p:cNvPr id="25" name="图形 24" descr="处理器 纯色填充">
            <a:extLst>
              <a:ext uri="{FF2B5EF4-FFF2-40B4-BE49-F238E27FC236}">
                <a16:creationId xmlns:a16="http://schemas.microsoft.com/office/drawing/2014/main" id="{F094B28E-CBE4-5B5E-838A-56DB5EDAF5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53361" y="6390683"/>
            <a:ext cx="434832" cy="434832"/>
          </a:xfrm>
          <a:prstGeom prst="rect">
            <a:avLst/>
          </a:prstGeom>
        </p:spPr>
      </p:pic>
      <p:pic>
        <p:nvPicPr>
          <p:cNvPr id="26" name="图形 25" descr="处理器 纯色填充">
            <a:extLst>
              <a:ext uri="{FF2B5EF4-FFF2-40B4-BE49-F238E27FC236}">
                <a16:creationId xmlns:a16="http://schemas.microsoft.com/office/drawing/2014/main" id="{1723AACC-1D05-226E-6050-3AE7A32964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96490" y="3948472"/>
            <a:ext cx="434832" cy="434832"/>
          </a:xfrm>
          <a:prstGeom prst="rect">
            <a:avLst/>
          </a:prstGeom>
        </p:spPr>
      </p:pic>
      <p:pic>
        <p:nvPicPr>
          <p:cNvPr id="27" name="图形 26" descr="处理器 纯色填充">
            <a:extLst>
              <a:ext uri="{FF2B5EF4-FFF2-40B4-BE49-F238E27FC236}">
                <a16:creationId xmlns:a16="http://schemas.microsoft.com/office/drawing/2014/main" id="{7047B09D-3C73-151B-6F0D-039BA05B4F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163162" y="6390683"/>
            <a:ext cx="434832" cy="434832"/>
          </a:xfrm>
          <a:prstGeom prst="rect">
            <a:avLst/>
          </a:prstGeom>
        </p:spPr>
      </p:pic>
      <p:pic>
        <p:nvPicPr>
          <p:cNvPr id="28" name="图形 27" descr="处理器 纯色填充">
            <a:extLst>
              <a:ext uri="{FF2B5EF4-FFF2-40B4-BE49-F238E27FC236}">
                <a16:creationId xmlns:a16="http://schemas.microsoft.com/office/drawing/2014/main" id="{AF2A6A2B-B7AD-F67E-A04D-AB2A0EFA48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62612" y="5613643"/>
            <a:ext cx="434832" cy="434832"/>
          </a:xfrm>
          <a:prstGeom prst="rect">
            <a:avLst/>
          </a:prstGeom>
        </p:spPr>
      </p:pic>
      <p:pic>
        <p:nvPicPr>
          <p:cNvPr id="29" name="图形 28" descr="信号 纯色填充">
            <a:extLst>
              <a:ext uri="{FF2B5EF4-FFF2-40B4-BE49-F238E27FC236}">
                <a16:creationId xmlns:a16="http://schemas.microsoft.com/office/drawing/2014/main" id="{51FBF3BA-5DD4-C49C-460D-7E0750D2E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194" y="2887104"/>
            <a:ext cx="380114" cy="380114"/>
          </a:xfrm>
          <a:prstGeom prst="rect">
            <a:avLst/>
          </a:prstGeom>
        </p:spPr>
      </p:pic>
      <p:pic>
        <p:nvPicPr>
          <p:cNvPr id="30" name="图形 29" descr="信号 纯色填充">
            <a:extLst>
              <a:ext uri="{FF2B5EF4-FFF2-40B4-BE49-F238E27FC236}">
                <a16:creationId xmlns:a16="http://schemas.microsoft.com/office/drawing/2014/main" id="{E624BDFD-14C7-1C58-F871-0190D9585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07387" y="3726505"/>
            <a:ext cx="380114" cy="380114"/>
          </a:xfrm>
          <a:prstGeom prst="rect">
            <a:avLst/>
          </a:prstGeom>
        </p:spPr>
      </p:pic>
      <p:pic>
        <p:nvPicPr>
          <p:cNvPr id="31" name="图形 30" descr="音量 纯色填充">
            <a:extLst>
              <a:ext uri="{FF2B5EF4-FFF2-40B4-BE49-F238E27FC236}">
                <a16:creationId xmlns:a16="http://schemas.microsoft.com/office/drawing/2014/main" id="{7F623D09-C500-600D-8D4B-106331034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5524" y="2557826"/>
            <a:ext cx="380113" cy="380113"/>
          </a:xfrm>
          <a:prstGeom prst="rect">
            <a:avLst/>
          </a:prstGeom>
        </p:spPr>
      </p:pic>
      <p:pic>
        <p:nvPicPr>
          <p:cNvPr id="32" name="图形 31" descr="Cmd 终端 纯色填充">
            <a:extLst>
              <a:ext uri="{FF2B5EF4-FFF2-40B4-BE49-F238E27FC236}">
                <a16:creationId xmlns:a16="http://schemas.microsoft.com/office/drawing/2014/main" id="{C1BE167D-C16E-9381-E502-550AAC7D4C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32531" y="2781006"/>
            <a:ext cx="434832" cy="434832"/>
          </a:xfrm>
          <a:prstGeom prst="rect">
            <a:avLst/>
          </a:prstGeom>
        </p:spPr>
      </p:pic>
      <p:pic>
        <p:nvPicPr>
          <p:cNvPr id="33" name="图形 32" descr="Cmd 终端 纯色填充">
            <a:extLst>
              <a:ext uri="{FF2B5EF4-FFF2-40B4-BE49-F238E27FC236}">
                <a16:creationId xmlns:a16="http://schemas.microsoft.com/office/drawing/2014/main" id="{590CDB49-C980-126B-D585-4ED6CCBAD5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25469" y="2562210"/>
            <a:ext cx="434832" cy="434832"/>
          </a:xfrm>
          <a:prstGeom prst="rect">
            <a:avLst/>
          </a:prstGeom>
        </p:spPr>
      </p:pic>
      <p:pic>
        <p:nvPicPr>
          <p:cNvPr id="34" name="图形 33" descr="智能手机 纯色填充">
            <a:extLst>
              <a:ext uri="{FF2B5EF4-FFF2-40B4-BE49-F238E27FC236}">
                <a16:creationId xmlns:a16="http://schemas.microsoft.com/office/drawing/2014/main" id="{8199D4C1-8023-8F8F-89EA-0EC846E763D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7444" y="4048154"/>
            <a:ext cx="434832" cy="434832"/>
          </a:xfrm>
          <a:prstGeom prst="rect">
            <a:avLst/>
          </a:prstGeom>
        </p:spPr>
      </p:pic>
      <p:pic>
        <p:nvPicPr>
          <p:cNvPr id="35" name="图形 34" descr="智能手机 纯色填充">
            <a:extLst>
              <a:ext uri="{FF2B5EF4-FFF2-40B4-BE49-F238E27FC236}">
                <a16:creationId xmlns:a16="http://schemas.microsoft.com/office/drawing/2014/main" id="{EBBC73DB-DF8B-50F8-B4AA-28FFBBCBF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68341" y="3671787"/>
            <a:ext cx="434832" cy="43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37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17D389-FB8A-B66E-D929-B42CF640BE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7340" y="593429"/>
            <a:ext cx="17065257" cy="6636063"/>
            <a:chOff x="0" y="580729"/>
            <a:chExt cx="17065257" cy="6636063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E5C747B-93C2-7C45-2A45-AE9DC6599BF0}"/>
                </a:ext>
              </a:extLst>
            </p:cNvPr>
            <p:cNvSpPr>
              <a:spLocks/>
            </p:cNvSpPr>
            <p:nvPr/>
          </p:nvSpPr>
          <p:spPr>
            <a:xfrm>
              <a:off x="5688419" y="580730"/>
              <a:ext cx="5688419" cy="6636062"/>
            </a:xfrm>
            <a:prstGeom prst="rect">
              <a:avLst/>
            </a:prstGeom>
            <a:solidFill>
              <a:srgbClr val="4C72B0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A6AA721-50D2-1DC0-123C-836FCBA5E30F}"/>
                </a:ext>
              </a:extLst>
            </p:cNvPr>
            <p:cNvSpPr>
              <a:spLocks/>
            </p:cNvSpPr>
            <p:nvPr/>
          </p:nvSpPr>
          <p:spPr>
            <a:xfrm>
              <a:off x="0" y="580729"/>
              <a:ext cx="5688419" cy="6636063"/>
            </a:xfrm>
            <a:prstGeom prst="rect">
              <a:avLst/>
            </a:prstGeom>
            <a:solidFill>
              <a:srgbClr val="55A868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B536603-B4FE-6823-9F87-5AB9CBC9F764}"/>
                </a:ext>
              </a:extLst>
            </p:cNvPr>
            <p:cNvSpPr>
              <a:spLocks/>
            </p:cNvSpPr>
            <p:nvPr/>
          </p:nvSpPr>
          <p:spPr>
            <a:xfrm>
              <a:off x="11376838" y="580730"/>
              <a:ext cx="5688419" cy="6636062"/>
            </a:xfrm>
            <a:prstGeom prst="rect">
              <a:avLst/>
            </a:prstGeom>
            <a:solidFill>
              <a:srgbClr val="C44E52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8E969A5-E5C3-8786-4C84-BAE3C7808C86}"/>
              </a:ext>
            </a:extLst>
          </p:cNvPr>
          <p:cNvSpPr txBox="1"/>
          <p:nvPr/>
        </p:nvSpPr>
        <p:spPr>
          <a:xfrm>
            <a:off x="2997200" y="679273"/>
            <a:ext cx="2798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Light Usage</a:t>
            </a:r>
            <a:endParaRPr lang="zh-CN" altLang="en-US" sz="36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5616A3-92BB-BD3B-6C88-1E376AAC0DF6}"/>
              </a:ext>
            </a:extLst>
          </p:cNvPr>
          <p:cNvSpPr txBox="1"/>
          <p:nvPr/>
        </p:nvSpPr>
        <p:spPr>
          <a:xfrm>
            <a:off x="8166100" y="679273"/>
            <a:ext cx="3318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Medium Usage</a:t>
            </a:r>
            <a:endParaRPr lang="zh-CN" altLang="en-US" sz="36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F9DCCE-80D7-BD77-B409-946B1F0FB65A}"/>
              </a:ext>
            </a:extLst>
          </p:cNvPr>
          <p:cNvSpPr txBox="1"/>
          <p:nvPr/>
        </p:nvSpPr>
        <p:spPr>
          <a:xfrm>
            <a:off x="14160500" y="679273"/>
            <a:ext cx="3119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Heavy Usage</a:t>
            </a:r>
            <a:endParaRPr lang="zh-CN" altLang="en-US" sz="3600" b="1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F97FF68-6192-270D-C2A3-B7BE9CF04BB4}"/>
              </a:ext>
            </a:extLst>
          </p:cNvPr>
          <p:cNvSpPr/>
          <p:nvPr/>
        </p:nvSpPr>
        <p:spPr>
          <a:xfrm>
            <a:off x="389396" y="1411447"/>
            <a:ext cx="4135346" cy="3517900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CPU Big Core </a:t>
            </a:r>
            <a:r>
              <a:rPr lang="en-US" altLang="zh-CN" sz="2400" dirty="0">
                <a:solidFill>
                  <a:schemeClr val="tx1"/>
                </a:solidFill>
              </a:rPr>
              <a:t>= 600MHZ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CPU Mid Core </a:t>
            </a:r>
            <a:r>
              <a:rPr lang="en-US" altLang="zh-CN" sz="2400" dirty="0">
                <a:solidFill>
                  <a:schemeClr val="tx1"/>
                </a:solidFill>
              </a:rPr>
              <a:t>= 800MHZ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CPU Little Core </a:t>
            </a:r>
            <a:r>
              <a:rPr lang="en-US" altLang="zh-CN" sz="2400" dirty="0">
                <a:solidFill>
                  <a:schemeClr val="tx1"/>
                </a:solidFill>
              </a:rPr>
              <a:t>= 800MHZ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GPU = </a:t>
            </a:r>
            <a:r>
              <a:rPr lang="en-US" altLang="zh-CN" sz="2400" dirty="0">
                <a:solidFill>
                  <a:schemeClr val="tx1"/>
                </a:solidFill>
              </a:rPr>
              <a:t>200MHZ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Brightness </a:t>
            </a:r>
            <a:r>
              <a:rPr lang="en-US" altLang="zh-CN" sz="2400" dirty="0">
                <a:solidFill>
                  <a:schemeClr val="tx1"/>
                </a:solidFill>
              </a:rPr>
              <a:t>= 30%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Audio </a:t>
            </a:r>
            <a:r>
              <a:rPr lang="en-US" altLang="zh-CN" sz="2400" dirty="0">
                <a:solidFill>
                  <a:schemeClr val="tx1"/>
                </a:solidFill>
              </a:rPr>
              <a:t>= off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Cellular </a:t>
            </a:r>
            <a:r>
              <a:rPr lang="en-US" altLang="zh-CN" sz="2400" dirty="0">
                <a:solidFill>
                  <a:schemeClr val="tx1"/>
                </a:solidFill>
              </a:rPr>
              <a:t>= off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WiFi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= 0MB/S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D483387-7922-840B-0779-04EAF6833E29}"/>
              </a:ext>
            </a:extLst>
          </p:cNvPr>
          <p:cNvSpPr/>
          <p:nvPr/>
        </p:nvSpPr>
        <p:spPr>
          <a:xfrm>
            <a:off x="6074272" y="1411447"/>
            <a:ext cx="4250827" cy="3517900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CPU Big Core </a:t>
            </a:r>
            <a:r>
              <a:rPr lang="en-US" altLang="zh-CN" sz="2400" dirty="0">
                <a:solidFill>
                  <a:schemeClr val="tx1"/>
                </a:solidFill>
              </a:rPr>
              <a:t>= 1.2GHZ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CPU Mid Core </a:t>
            </a:r>
            <a:r>
              <a:rPr lang="en-US" altLang="zh-CN" sz="2400" dirty="0">
                <a:solidFill>
                  <a:schemeClr val="tx1"/>
                </a:solidFill>
              </a:rPr>
              <a:t>= 2GHZ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CPU Little Core </a:t>
            </a:r>
            <a:r>
              <a:rPr lang="en-US" altLang="zh-CN" sz="2400" dirty="0">
                <a:solidFill>
                  <a:schemeClr val="tx1"/>
                </a:solidFill>
              </a:rPr>
              <a:t>= 1.25GHZ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GPU = </a:t>
            </a:r>
            <a:r>
              <a:rPr lang="en-US" altLang="zh-CN" sz="2400" dirty="0">
                <a:solidFill>
                  <a:schemeClr val="tx1"/>
                </a:solidFill>
              </a:rPr>
              <a:t>600MHZ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Brightness </a:t>
            </a:r>
            <a:r>
              <a:rPr lang="en-US" altLang="zh-CN" sz="2400" dirty="0">
                <a:solidFill>
                  <a:schemeClr val="tx1"/>
                </a:solidFill>
              </a:rPr>
              <a:t>= 60%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Audio </a:t>
            </a:r>
            <a:r>
              <a:rPr lang="en-US" altLang="zh-CN" sz="2400" dirty="0">
                <a:solidFill>
                  <a:schemeClr val="tx1"/>
                </a:solidFill>
              </a:rPr>
              <a:t>= on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Cellular </a:t>
            </a:r>
            <a:r>
              <a:rPr lang="en-US" altLang="zh-CN" sz="2400" dirty="0">
                <a:solidFill>
                  <a:schemeClr val="tx1"/>
                </a:solidFill>
              </a:rPr>
              <a:t>= off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WiFi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= 5MB/S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D9479A2-A29A-6C00-2674-D5942287AD7A}"/>
              </a:ext>
            </a:extLst>
          </p:cNvPr>
          <p:cNvSpPr/>
          <p:nvPr/>
        </p:nvSpPr>
        <p:spPr>
          <a:xfrm>
            <a:off x="11762691" y="1411447"/>
            <a:ext cx="4250827" cy="3517900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CPU Big Core </a:t>
            </a:r>
            <a:r>
              <a:rPr lang="en-US" altLang="zh-CN" sz="2400" dirty="0">
                <a:solidFill>
                  <a:schemeClr val="tx1"/>
                </a:solidFill>
              </a:rPr>
              <a:t>= 1.8GHZ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CPU Mid Core </a:t>
            </a:r>
            <a:r>
              <a:rPr lang="en-US" altLang="zh-CN" sz="2400" dirty="0">
                <a:solidFill>
                  <a:schemeClr val="tx1"/>
                </a:solidFill>
              </a:rPr>
              <a:t>= 3GMHZ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CPU Little Core </a:t>
            </a:r>
            <a:r>
              <a:rPr lang="en-US" altLang="zh-CN" sz="2400" dirty="0">
                <a:solidFill>
                  <a:schemeClr val="tx1"/>
                </a:solidFill>
              </a:rPr>
              <a:t>= 2.2GMHZ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GPU = </a:t>
            </a:r>
            <a:r>
              <a:rPr lang="en-US" altLang="zh-CN" sz="2400" dirty="0">
                <a:solidFill>
                  <a:schemeClr val="tx1"/>
                </a:solidFill>
              </a:rPr>
              <a:t>800MHZ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Brightness </a:t>
            </a:r>
            <a:r>
              <a:rPr lang="en-US" altLang="zh-CN" sz="2400" dirty="0">
                <a:solidFill>
                  <a:schemeClr val="tx1"/>
                </a:solidFill>
              </a:rPr>
              <a:t>= 100%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Audio </a:t>
            </a:r>
            <a:r>
              <a:rPr lang="en-US" altLang="zh-CN" sz="2400" dirty="0">
                <a:solidFill>
                  <a:schemeClr val="tx1"/>
                </a:solidFill>
              </a:rPr>
              <a:t>= on</a:t>
            </a:r>
          </a:p>
          <a:p>
            <a:r>
              <a:rPr lang="en-US" altLang="zh-CN" sz="2400" b="1" dirty="0">
                <a:solidFill>
                  <a:schemeClr val="tx1"/>
                </a:solidFill>
              </a:rPr>
              <a:t>Cellular </a:t>
            </a:r>
            <a:r>
              <a:rPr lang="en-US" altLang="zh-CN" sz="2400" dirty="0">
                <a:solidFill>
                  <a:schemeClr val="tx1"/>
                </a:solidFill>
              </a:rPr>
              <a:t>= off</a:t>
            </a:r>
          </a:p>
          <a:p>
            <a:r>
              <a:rPr lang="en-US" altLang="zh-CN" sz="2400" b="1" dirty="0" err="1">
                <a:solidFill>
                  <a:schemeClr val="tx1"/>
                </a:solidFill>
              </a:rPr>
              <a:t>WiFi</a:t>
            </a:r>
            <a:r>
              <a:rPr lang="en-US" altLang="zh-CN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= 1MB/S</a:t>
            </a:r>
          </a:p>
        </p:txBody>
      </p:sp>
      <p:pic>
        <p:nvPicPr>
          <p:cNvPr id="19" name="图形 18" descr="视频博客 纯色填充">
            <a:extLst>
              <a:ext uri="{FF2B5EF4-FFF2-40B4-BE49-F238E27FC236}">
                <a16:creationId xmlns:a16="http://schemas.microsoft.com/office/drawing/2014/main" id="{C5AB4E5D-0A24-8842-92E3-76D12CF4E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49307" y="4671016"/>
            <a:ext cx="2890024" cy="2890024"/>
          </a:xfrm>
          <a:prstGeom prst="rect">
            <a:avLst/>
          </a:prstGeom>
        </p:spPr>
      </p:pic>
      <p:pic>
        <p:nvPicPr>
          <p:cNvPr id="21" name="图形 20" descr="打开的书 纯色填充">
            <a:extLst>
              <a:ext uri="{FF2B5EF4-FFF2-40B4-BE49-F238E27FC236}">
                <a16:creationId xmlns:a16="http://schemas.microsoft.com/office/drawing/2014/main" id="{AAB291B5-F970-AE97-63B1-1B6C31222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3988" y="5015190"/>
            <a:ext cx="2369362" cy="2369362"/>
          </a:xfrm>
          <a:prstGeom prst="rect">
            <a:avLst/>
          </a:prstGeom>
        </p:spPr>
      </p:pic>
      <p:pic>
        <p:nvPicPr>
          <p:cNvPr id="23" name="图形 22" descr="游戏控制器 纯色填充">
            <a:extLst>
              <a:ext uri="{FF2B5EF4-FFF2-40B4-BE49-F238E27FC236}">
                <a16:creationId xmlns:a16="http://schemas.microsoft.com/office/drawing/2014/main" id="{D7B2F883-1039-7299-F60C-DF11E147E8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0196" y="4671016"/>
            <a:ext cx="2890024" cy="289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形用户界面, 图表, 应用程序, 折线图&#10;&#10;AI 生成的内容可能不正确。">
            <a:extLst>
              <a:ext uri="{FF2B5EF4-FFF2-40B4-BE49-F238E27FC236}">
                <a16:creationId xmlns:a16="http://schemas.microsoft.com/office/drawing/2014/main" id="{51AD2361-2154-E94F-123C-1AD540ABB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535" y="63685"/>
            <a:ext cx="14484867" cy="9656578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01C384B-97C9-2EC7-5789-F9D422A19516}"/>
              </a:ext>
            </a:extLst>
          </p:cNvPr>
          <p:cNvSpPr/>
          <p:nvPr/>
        </p:nvSpPr>
        <p:spPr>
          <a:xfrm>
            <a:off x="3028951" y="3460750"/>
            <a:ext cx="806450" cy="806450"/>
          </a:xfrm>
          <a:prstGeom prst="ellipse">
            <a:avLst/>
          </a:prstGeom>
          <a:noFill/>
          <a:ln w="38100">
            <a:solidFill>
              <a:srgbClr val="55A86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8B7C128-176A-213C-2B01-F3993944C8E1}"/>
              </a:ext>
            </a:extLst>
          </p:cNvPr>
          <p:cNvSpPr/>
          <p:nvPr/>
        </p:nvSpPr>
        <p:spPr>
          <a:xfrm>
            <a:off x="4158255" y="3329581"/>
            <a:ext cx="674095" cy="674094"/>
          </a:xfrm>
          <a:prstGeom prst="ellipse">
            <a:avLst/>
          </a:prstGeom>
          <a:noFill/>
          <a:ln w="38100">
            <a:solidFill>
              <a:srgbClr val="4C72B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C72B0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9338C01-D058-A148-BE12-B6FDA05AD4EE}"/>
              </a:ext>
            </a:extLst>
          </p:cNvPr>
          <p:cNvSpPr/>
          <p:nvPr/>
        </p:nvSpPr>
        <p:spPr>
          <a:xfrm>
            <a:off x="6631806" y="2337502"/>
            <a:ext cx="547586" cy="540452"/>
          </a:xfrm>
          <a:prstGeom prst="ellipse">
            <a:avLst/>
          </a:prstGeom>
          <a:noFill/>
          <a:ln w="38100">
            <a:solidFill>
              <a:srgbClr val="C44E5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FE7937A-DFFB-BC7F-1BD8-C3FDA88BB7F7}"/>
              </a:ext>
            </a:extLst>
          </p:cNvPr>
          <p:cNvSpPr/>
          <p:nvPr/>
        </p:nvSpPr>
        <p:spPr>
          <a:xfrm>
            <a:off x="10020328" y="3593106"/>
            <a:ext cx="674095" cy="674094"/>
          </a:xfrm>
          <a:prstGeom prst="ellipse">
            <a:avLst/>
          </a:prstGeom>
          <a:noFill/>
          <a:ln w="38100">
            <a:solidFill>
              <a:srgbClr val="55A86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2F6BB89-545F-F800-C568-F55967629DFF}"/>
              </a:ext>
            </a:extLst>
          </p:cNvPr>
          <p:cNvSpPr/>
          <p:nvPr/>
        </p:nvSpPr>
        <p:spPr>
          <a:xfrm>
            <a:off x="10956990" y="3451290"/>
            <a:ext cx="552386" cy="552385"/>
          </a:xfrm>
          <a:prstGeom prst="ellipse">
            <a:avLst/>
          </a:prstGeom>
          <a:noFill/>
          <a:ln w="38100">
            <a:solidFill>
              <a:srgbClr val="4C72B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1212532-3E04-3598-00A0-57BE139488E1}"/>
              </a:ext>
            </a:extLst>
          </p:cNvPr>
          <p:cNvSpPr/>
          <p:nvPr/>
        </p:nvSpPr>
        <p:spPr>
          <a:xfrm>
            <a:off x="11771943" y="2966569"/>
            <a:ext cx="552386" cy="552385"/>
          </a:xfrm>
          <a:prstGeom prst="ellipse">
            <a:avLst/>
          </a:prstGeom>
          <a:noFill/>
          <a:ln w="38100">
            <a:solidFill>
              <a:srgbClr val="C44E5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EBC1181-5057-445C-20A4-CDA86CA04F68}"/>
              </a:ext>
            </a:extLst>
          </p:cNvPr>
          <p:cNvSpPr/>
          <p:nvPr/>
        </p:nvSpPr>
        <p:spPr>
          <a:xfrm>
            <a:off x="2641990" y="8509601"/>
            <a:ext cx="439845" cy="439844"/>
          </a:xfrm>
          <a:prstGeom prst="ellipse">
            <a:avLst/>
          </a:prstGeom>
          <a:noFill/>
          <a:ln w="38100">
            <a:solidFill>
              <a:srgbClr val="55A86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468CD1C-C8CA-830D-D777-D9FF5771D82A}"/>
              </a:ext>
            </a:extLst>
          </p:cNvPr>
          <p:cNvSpPr/>
          <p:nvPr/>
        </p:nvSpPr>
        <p:spPr>
          <a:xfrm>
            <a:off x="3835401" y="7923075"/>
            <a:ext cx="806449" cy="806448"/>
          </a:xfrm>
          <a:prstGeom prst="ellipse">
            <a:avLst/>
          </a:prstGeom>
          <a:noFill/>
          <a:ln w="38100">
            <a:solidFill>
              <a:srgbClr val="4C72B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71B3EEC-DB54-A54E-CF54-9453FF5E86F7}"/>
              </a:ext>
            </a:extLst>
          </p:cNvPr>
          <p:cNvSpPr/>
          <p:nvPr/>
        </p:nvSpPr>
        <p:spPr>
          <a:xfrm>
            <a:off x="5318577" y="7366422"/>
            <a:ext cx="644105" cy="644103"/>
          </a:xfrm>
          <a:prstGeom prst="ellipse">
            <a:avLst/>
          </a:prstGeom>
          <a:noFill/>
          <a:ln w="38100">
            <a:solidFill>
              <a:srgbClr val="C44E5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60E6AC0-256C-B575-D3AB-530AE19572AD}"/>
              </a:ext>
            </a:extLst>
          </p:cNvPr>
          <p:cNvSpPr/>
          <p:nvPr/>
        </p:nvSpPr>
        <p:spPr>
          <a:xfrm>
            <a:off x="9874839" y="8377131"/>
            <a:ext cx="552386" cy="552385"/>
          </a:xfrm>
          <a:prstGeom prst="ellipse">
            <a:avLst/>
          </a:prstGeom>
          <a:noFill/>
          <a:ln w="38100">
            <a:solidFill>
              <a:srgbClr val="55A868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F6ADCFE-EF57-D55E-CCA3-17FEFAD128CE}"/>
              </a:ext>
            </a:extLst>
          </p:cNvPr>
          <p:cNvSpPr/>
          <p:nvPr/>
        </p:nvSpPr>
        <p:spPr>
          <a:xfrm>
            <a:off x="12814888" y="6815031"/>
            <a:ext cx="957371" cy="957369"/>
          </a:xfrm>
          <a:prstGeom prst="ellipse">
            <a:avLst/>
          </a:prstGeom>
          <a:noFill/>
          <a:ln w="38100">
            <a:solidFill>
              <a:srgbClr val="4C72B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479A519-C876-E05E-BF0B-D5A6B7554FAC}"/>
              </a:ext>
            </a:extLst>
          </p:cNvPr>
          <p:cNvSpPr/>
          <p:nvPr/>
        </p:nvSpPr>
        <p:spPr>
          <a:xfrm>
            <a:off x="14255015" y="5938731"/>
            <a:ext cx="686534" cy="686533"/>
          </a:xfrm>
          <a:prstGeom prst="ellipse">
            <a:avLst/>
          </a:prstGeom>
          <a:noFill/>
          <a:ln w="38100">
            <a:solidFill>
              <a:srgbClr val="C44E5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2513D3-F118-7002-BD5A-477295E1D4DD}"/>
              </a:ext>
            </a:extLst>
          </p:cNvPr>
          <p:cNvSpPr txBox="1"/>
          <p:nvPr/>
        </p:nvSpPr>
        <p:spPr>
          <a:xfrm>
            <a:off x="2657476" y="2999085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55A868"/>
                </a:solidFill>
              </a:rPr>
              <a:t>Light</a:t>
            </a:r>
            <a:endParaRPr lang="zh-CN" altLang="en-US" sz="2400" b="1" dirty="0">
              <a:solidFill>
                <a:srgbClr val="55A868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4C5A1F-5B3B-3E1D-1609-38E7D27897AA}"/>
              </a:ext>
            </a:extLst>
          </p:cNvPr>
          <p:cNvSpPr txBox="1"/>
          <p:nvPr/>
        </p:nvSpPr>
        <p:spPr>
          <a:xfrm>
            <a:off x="2145305" y="8095466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55A868"/>
                </a:solidFill>
              </a:rPr>
              <a:t>Light</a:t>
            </a:r>
            <a:endParaRPr lang="zh-CN" altLang="en-US" sz="2400" b="1" dirty="0">
              <a:solidFill>
                <a:srgbClr val="55A868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EC5656-2097-85D6-6248-E2F2B903CE14}"/>
              </a:ext>
            </a:extLst>
          </p:cNvPr>
          <p:cNvSpPr txBox="1"/>
          <p:nvPr/>
        </p:nvSpPr>
        <p:spPr>
          <a:xfrm>
            <a:off x="9597069" y="3154608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55A868"/>
                </a:solidFill>
              </a:rPr>
              <a:t>Light</a:t>
            </a:r>
            <a:endParaRPr lang="zh-CN" altLang="en-US" sz="2400" b="1" dirty="0">
              <a:solidFill>
                <a:srgbClr val="55A868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3835A14-3B4A-2180-AF7A-B2B87F6F9AD0}"/>
              </a:ext>
            </a:extLst>
          </p:cNvPr>
          <p:cNvSpPr txBox="1"/>
          <p:nvPr/>
        </p:nvSpPr>
        <p:spPr>
          <a:xfrm>
            <a:off x="9373142" y="7923075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55A868"/>
                </a:solidFill>
              </a:rPr>
              <a:t>Light</a:t>
            </a:r>
            <a:endParaRPr lang="zh-CN" altLang="en-US" sz="2400" b="1" dirty="0">
              <a:solidFill>
                <a:srgbClr val="55A868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61DEA4-5B27-40D8-0458-8EBD8ED10DFA}"/>
              </a:ext>
            </a:extLst>
          </p:cNvPr>
          <p:cNvSpPr txBox="1"/>
          <p:nvPr/>
        </p:nvSpPr>
        <p:spPr>
          <a:xfrm>
            <a:off x="3713163" y="2917825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C72B0"/>
                </a:solidFill>
              </a:rPr>
              <a:t>Medium</a:t>
            </a:r>
            <a:endParaRPr lang="zh-CN" altLang="en-US" sz="2400" b="1" dirty="0">
              <a:solidFill>
                <a:srgbClr val="4C72B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363D3A-2F6A-BF87-0EDF-599DE2257A58}"/>
              </a:ext>
            </a:extLst>
          </p:cNvPr>
          <p:cNvSpPr txBox="1"/>
          <p:nvPr/>
        </p:nvSpPr>
        <p:spPr>
          <a:xfrm>
            <a:off x="10628943" y="3955883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C72B0"/>
                </a:solidFill>
              </a:rPr>
              <a:t>Medium</a:t>
            </a:r>
            <a:endParaRPr lang="zh-CN" altLang="en-US" sz="2400" b="1" dirty="0">
              <a:solidFill>
                <a:srgbClr val="4C72B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C977CA-8B54-1F2D-7913-D1712629E77B}"/>
              </a:ext>
            </a:extLst>
          </p:cNvPr>
          <p:cNvSpPr txBox="1"/>
          <p:nvPr/>
        </p:nvSpPr>
        <p:spPr>
          <a:xfrm>
            <a:off x="3463925" y="7541567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C72B0"/>
                </a:solidFill>
              </a:rPr>
              <a:t>Medium</a:t>
            </a:r>
            <a:endParaRPr lang="zh-CN" altLang="en-US" sz="2400" b="1" dirty="0">
              <a:solidFill>
                <a:srgbClr val="4C72B0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9A209CD-28A8-A44C-D6FF-D0B6FFC6D9AA}"/>
              </a:ext>
            </a:extLst>
          </p:cNvPr>
          <p:cNvSpPr txBox="1"/>
          <p:nvPr/>
        </p:nvSpPr>
        <p:spPr>
          <a:xfrm>
            <a:off x="12439683" y="6440006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4C72B0"/>
                </a:solidFill>
              </a:rPr>
              <a:t>Medium</a:t>
            </a:r>
            <a:endParaRPr lang="zh-CN" altLang="en-US" sz="2400" b="1" dirty="0">
              <a:solidFill>
                <a:srgbClr val="4C72B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BAEC189-6A14-E666-18CA-32814177434E}"/>
              </a:ext>
            </a:extLst>
          </p:cNvPr>
          <p:cNvSpPr txBox="1"/>
          <p:nvPr/>
        </p:nvSpPr>
        <p:spPr>
          <a:xfrm>
            <a:off x="6130899" y="1944158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44E52"/>
                </a:solidFill>
              </a:rPr>
              <a:t>Heavy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513368-5D28-0F78-D22A-F825C28E3067}"/>
              </a:ext>
            </a:extLst>
          </p:cNvPr>
          <p:cNvSpPr txBox="1"/>
          <p:nvPr/>
        </p:nvSpPr>
        <p:spPr>
          <a:xfrm>
            <a:off x="4832350" y="6960932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44E52"/>
                </a:solidFill>
              </a:rPr>
              <a:t>Heavy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9D8CBF-0174-5FDB-429A-DE3C85287372}"/>
              </a:ext>
            </a:extLst>
          </p:cNvPr>
          <p:cNvSpPr txBox="1"/>
          <p:nvPr/>
        </p:nvSpPr>
        <p:spPr>
          <a:xfrm>
            <a:off x="11273436" y="2571280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44E52"/>
                </a:solidFill>
              </a:rPr>
              <a:t>Heavy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CE558C0-20BC-C387-8466-2C012C098F28}"/>
              </a:ext>
            </a:extLst>
          </p:cNvPr>
          <p:cNvSpPr txBox="1"/>
          <p:nvPr/>
        </p:nvSpPr>
        <p:spPr>
          <a:xfrm>
            <a:off x="13772259" y="5520386"/>
            <a:ext cx="154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44E52"/>
                </a:solidFill>
              </a:rPr>
              <a:t>Heavy</a:t>
            </a:r>
          </a:p>
        </p:txBody>
      </p:sp>
    </p:spTree>
    <p:extLst>
      <p:ext uri="{BB962C8B-B14F-4D97-AF65-F5344CB8AC3E}">
        <p14:creationId xmlns:p14="http://schemas.microsoft.com/office/powerpoint/2010/main" val="337087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CFA5D866-3067-B599-13C8-EEC766EFA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772" y="793"/>
            <a:ext cx="14580394" cy="972026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517151-F7C1-D2F7-D66B-80F7BE9B5F30}"/>
              </a:ext>
            </a:extLst>
          </p:cNvPr>
          <p:cNvSpPr txBox="1"/>
          <p:nvPr/>
        </p:nvSpPr>
        <p:spPr>
          <a:xfrm>
            <a:off x="15398750" y="607695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6.90</a:t>
            </a:r>
            <a:endParaRPr lang="zh-CN" altLang="en-US" sz="2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328E55-4ABC-4664-F2E3-99ED6A394EEA}"/>
              </a:ext>
            </a:extLst>
          </p:cNvPr>
          <p:cNvSpPr txBox="1"/>
          <p:nvPr/>
        </p:nvSpPr>
        <p:spPr>
          <a:xfrm>
            <a:off x="15398750" y="826135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4.57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32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96F1AAE-8124-7F6B-8ECD-69B1A8519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52" y="794"/>
            <a:ext cx="7676417" cy="972026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89139F-123D-D7A9-81E5-AA6BD92167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350" y="-1"/>
            <a:ext cx="7676418" cy="97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21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963F1F3-688B-E138-2912-5FA16B5D3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24"/>
          <a:stretch>
            <a:fillRect/>
          </a:stretch>
        </p:blipFill>
        <p:spPr>
          <a:xfrm>
            <a:off x="2241537" y="0"/>
            <a:ext cx="12801625" cy="48144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7DD832-DB5B-8A91-DC2C-E6B275336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24"/>
          <a:stretch>
            <a:fillRect/>
          </a:stretch>
        </p:blipFill>
        <p:spPr>
          <a:xfrm>
            <a:off x="2241537" y="4677102"/>
            <a:ext cx="12801625" cy="481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91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B21B101-3DE7-22A3-568E-DEAF98A58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5" b="35548"/>
          <a:stretch>
            <a:fillRect/>
          </a:stretch>
        </p:blipFill>
        <p:spPr>
          <a:xfrm>
            <a:off x="0" y="2265972"/>
            <a:ext cx="17151888" cy="5404828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30FC0E5-2CC2-FF53-8C1D-27F4EF3D734A}"/>
              </a:ext>
            </a:extLst>
          </p:cNvPr>
          <p:cNvCxnSpPr>
            <a:cxnSpLocks/>
          </p:cNvCxnSpPr>
          <p:nvPr/>
        </p:nvCxnSpPr>
        <p:spPr>
          <a:xfrm>
            <a:off x="4267198" y="2889250"/>
            <a:ext cx="51858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C48CEDE-9750-9FD6-CF67-65F4724EE0A9}"/>
              </a:ext>
            </a:extLst>
          </p:cNvPr>
          <p:cNvCxnSpPr>
            <a:cxnSpLocks/>
          </p:cNvCxnSpPr>
          <p:nvPr/>
        </p:nvCxnSpPr>
        <p:spPr>
          <a:xfrm>
            <a:off x="4267199" y="4004733"/>
            <a:ext cx="51858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A9BD4C0-6A29-AF5E-674E-F2913B1D0840}"/>
              </a:ext>
            </a:extLst>
          </p:cNvPr>
          <p:cNvCxnSpPr/>
          <p:nvPr/>
        </p:nvCxnSpPr>
        <p:spPr>
          <a:xfrm>
            <a:off x="4526489" y="2889250"/>
            <a:ext cx="0" cy="1115483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7945974-2508-0C57-10BD-A4DD2A8F9E24}"/>
              </a:ext>
            </a:extLst>
          </p:cNvPr>
          <p:cNvSpPr txBox="1"/>
          <p:nvPr/>
        </p:nvSpPr>
        <p:spPr>
          <a:xfrm>
            <a:off x="3006327" y="3097030"/>
            <a:ext cx="12535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Voltage</a:t>
            </a:r>
          </a:p>
          <a:p>
            <a:pPr algn="ctr"/>
            <a:r>
              <a:rPr lang="en-US" altLang="zh-CN" sz="2400" b="1" dirty="0"/>
              <a:t>Drop</a:t>
            </a:r>
            <a:endParaRPr lang="zh-CN" altLang="en-US" sz="2400" b="1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FB54098-8C02-DF6F-BBC3-4129713B54B7}"/>
              </a:ext>
            </a:extLst>
          </p:cNvPr>
          <p:cNvCxnSpPr>
            <a:cxnSpLocks/>
          </p:cNvCxnSpPr>
          <p:nvPr/>
        </p:nvCxnSpPr>
        <p:spPr>
          <a:xfrm flipV="1">
            <a:off x="4526489" y="5068389"/>
            <a:ext cx="271054" cy="432977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72B4B8F-0C65-CB72-DB02-FC5BFFB8924A}"/>
              </a:ext>
            </a:extLst>
          </p:cNvPr>
          <p:cNvCxnSpPr>
            <a:cxnSpLocks/>
          </p:cNvCxnSpPr>
          <p:nvPr/>
        </p:nvCxnSpPr>
        <p:spPr>
          <a:xfrm flipV="1">
            <a:off x="8783057" y="7295319"/>
            <a:ext cx="271054" cy="432977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2C0EDA6-22F9-215E-74F8-C7A1FAE9CBE4}"/>
              </a:ext>
            </a:extLst>
          </p:cNvPr>
          <p:cNvCxnSpPr>
            <a:cxnSpLocks/>
          </p:cNvCxnSpPr>
          <p:nvPr/>
        </p:nvCxnSpPr>
        <p:spPr>
          <a:xfrm>
            <a:off x="4699591" y="5316279"/>
            <a:ext cx="4083466" cy="2232837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099311D-82D8-DD46-C4FB-D1DD4BC79634}"/>
              </a:ext>
            </a:extLst>
          </p:cNvPr>
          <p:cNvSpPr txBox="1"/>
          <p:nvPr/>
        </p:nvSpPr>
        <p:spPr>
          <a:xfrm rot="1686643">
            <a:off x="5524518" y="6333473"/>
            <a:ext cx="18271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Resistance</a:t>
            </a:r>
            <a:endParaRPr lang="zh-CN" altLang="en-US" sz="2400" b="1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2DD5B3D-C26F-B3DC-7746-905260A7A30B}"/>
              </a:ext>
            </a:extLst>
          </p:cNvPr>
          <p:cNvCxnSpPr>
            <a:cxnSpLocks/>
          </p:cNvCxnSpPr>
          <p:nvPr/>
        </p:nvCxnSpPr>
        <p:spPr>
          <a:xfrm>
            <a:off x="9044761" y="6179836"/>
            <a:ext cx="51858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00E25E9-2201-3CD2-C01D-DA9E3E8FAA8E}"/>
              </a:ext>
            </a:extLst>
          </p:cNvPr>
          <p:cNvCxnSpPr>
            <a:cxnSpLocks/>
          </p:cNvCxnSpPr>
          <p:nvPr/>
        </p:nvCxnSpPr>
        <p:spPr>
          <a:xfrm>
            <a:off x="9044762" y="7295319"/>
            <a:ext cx="518583" cy="0"/>
          </a:xfrm>
          <a:prstGeom prst="line">
            <a:avLst/>
          </a:prstGeom>
          <a:ln w="635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60AE096-FB60-C12B-BE16-E262A904F0C9}"/>
              </a:ext>
            </a:extLst>
          </p:cNvPr>
          <p:cNvCxnSpPr/>
          <p:nvPr/>
        </p:nvCxnSpPr>
        <p:spPr>
          <a:xfrm>
            <a:off x="9304052" y="6179836"/>
            <a:ext cx="0" cy="1115483"/>
          </a:xfrm>
          <a:prstGeom prst="straightConnector1">
            <a:avLst/>
          </a:prstGeom>
          <a:ln w="635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1222E5C6-551A-914F-0DE3-4CAD18542CB2}"/>
              </a:ext>
            </a:extLst>
          </p:cNvPr>
          <p:cNvSpPr txBox="1"/>
          <p:nvPr/>
        </p:nvSpPr>
        <p:spPr>
          <a:xfrm>
            <a:off x="9229624" y="6506744"/>
            <a:ext cx="1668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Recovery</a:t>
            </a:r>
            <a:endParaRPr lang="zh-CN" altLang="en-US" sz="2400" b="1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FAA1BB6-8DD3-2877-18C8-B40AA5405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971" y="271226"/>
            <a:ext cx="1951970" cy="199844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C0EE38C-8A35-AE49-B682-359964787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50" y="121451"/>
            <a:ext cx="2199513" cy="223283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C6BF301-F2A9-3611-266A-44A58F3CD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5718" y="659114"/>
            <a:ext cx="3245377" cy="1485174"/>
          </a:xfrm>
          <a:prstGeom prst="rect">
            <a:avLst/>
          </a:prstGeom>
        </p:spPr>
      </p:pic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4C5031A-4D3C-108C-B824-640673B3DC7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3337324" y="1939062"/>
            <a:ext cx="295759" cy="1157968"/>
          </a:xfrm>
          <a:prstGeom prst="straightConnector1">
            <a:avLst/>
          </a:prstGeom>
          <a:ln w="952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A84FCFD-EF3A-980A-25FA-D9501BDCE199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6687606" y="2354288"/>
            <a:ext cx="1" cy="4003982"/>
          </a:xfrm>
          <a:prstGeom prst="straightConnector1">
            <a:avLst/>
          </a:prstGeom>
          <a:ln w="952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F507CEC-8284-1D9D-E121-BD9D9C435F6F}"/>
              </a:ext>
            </a:extLst>
          </p:cNvPr>
          <p:cNvCxnSpPr>
            <a:cxnSpLocks/>
          </p:cNvCxnSpPr>
          <p:nvPr/>
        </p:nvCxnSpPr>
        <p:spPr>
          <a:xfrm flipH="1">
            <a:off x="9742130" y="2171147"/>
            <a:ext cx="1028942" cy="4393158"/>
          </a:xfrm>
          <a:prstGeom prst="straightConnector1">
            <a:avLst/>
          </a:prstGeom>
          <a:ln w="952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634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1253</TotalTime>
  <Words>366</Words>
  <Application>Microsoft Office PowerPoint</Application>
  <PresentationFormat>自定义</PresentationFormat>
  <Paragraphs>138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9319727@qq.com</dc:creator>
  <cp:lastModifiedBy>9319727@qq.com</cp:lastModifiedBy>
  <cp:revision>20</cp:revision>
  <dcterms:created xsi:type="dcterms:W3CDTF">2026-01-27T04:26:21Z</dcterms:created>
  <dcterms:modified xsi:type="dcterms:W3CDTF">2026-02-02T20:17:13Z</dcterms:modified>
</cp:coreProperties>
</file>